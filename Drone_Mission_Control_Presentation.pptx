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ckground Header Shape (Flood Theme Blue/Orange) -->
      <p:sp>
        <p:nvSpPr>
          <p:cNvPr id="2" name="Header Banner"/>
          <p:cNvSpPr/>
          <p:nvPr/>
        </p:nvSpPr>
        <p:spPr>
          <a:xfrm>
            <a:off x="457200" y="365760"/>
            <a:ext cx="11277600" cy="1200000"/>
          </a:xfrm>
          <a:prstGeom prst="rect">
            <a:avLst/>
          </a:prstGeom>
          <a:solidFill>
            <a:srgbClr val="2563EB"/>
          </a:solidFill>
        </p:spPr>
        <p:txBody>
          <a:bodyPr vertOverflow="clip" horzOverflow="clip" wrap="square" lIns="182880" tIns="182880" rIns="182880" bIns="182880"/>
          <a:lstStyle/>
          <a:p>
            <a:r>
              <a:rPr lang="en-US" sz="2800" b="1">
                <a:solidFill>
                  <a:srgbClr val="FFFFFF"/>
                </a:solidFill>
              </a:rPr>
              <a:t>Drone Mission Control (SentinelEye)</a:t>
            </a:r>
          </a:p>
          <a:p>
            <a:r>
              <a:rPr lang="en-US" sz="1600" i="1">
                <a:solidFill>
                  <a:srgbClr val="DBEAFE"/>
                </a:solidFill>
              </a:rPr>
              <a:t>Real-Time AI &amp; Computer Vision System for Flood Disaster Response</a:t>
            </a:r>
          </a:p>
        </p:txBody>
      </p:sp>
      <!-- Main Body Box -->
      <p:sp>
        <p:nvSpPr>
          <p:cNvPr id="3" name="Content Text Box"/>
          <p:cNvSpPr/>
          <p:nvPr/>
        </p:nvSpPr>
        <p:spPr>
          <a:xfrm>
            <a:off x="609600" y="1828800"/>
            <a:ext cx="10972800" cy="4572000"/>
          </a:xfrm>
          <a:prstGeom prst="rect">
            <a:avLst/>
          </a:prstGeom>
          <a:solidFill>
            <a:srgbClr val="F8F9FA"/>
          </a:solidFill>
          <a:ln w="19050">
            <a:solidFill>
              <a:srgbClr val="BFDBFE"/>
            </a:solidFill>
          </a:ln>
        </p:spPr>
        <p:txBody>
          <a:bodyPr vertOverflow="clip" horzOverflow="clip" wrap="square" lIns="288000" tIns="288000" rIns="288000" bIns="288000"/>
          <a:lstStyle/>
          <a:p>
            <a:r>
              <a:rPr lang="en-US" sz="2000">
                <a:solidFill>
                  <a:srgbClr val="333333"/>
                </a:solidFill>
              </a:rPr>
              <a:t>• Autonomous aerial drone surveillance dedicated to FLOOD search &amp; rescue</a:t>
            </a:r>
          </a:p>
          <a:p>
            <a:r>
              <a:rPr lang="en-US" sz="2000">
                <a:solidFill>
                  <a:srgbClr val="333333"/>
                </a:solidFill>
              </a:rPr>
              <a:t>• Powered by OpenCV, YOLO v3, TensorFlow.js &amp; Leaflet.js GIS mapping</a:t>
            </a:r>
          </a:p>
          <a:p>
            <a:r>
              <a:rPr lang="en-US" sz="2000">
                <a:solidFill>
                  <a:srgbClr val="333333"/>
                </a:solidFill>
              </a:rPr>
              <a:t>• Instant detection of stranded flood victims &amp; livestock with automated rescue reporting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ckground Header Shape (Flood Theme Blue/Orange) -->
      <p:sp>
        <p:nvSpPr>
          <p:cNvPr id="2" name="Header Banner"/>
          <p:cNvSpPr/>
          <p:nvPr/>
        </p:nvSpPr>
        <p:spPr>
          <a:xfrm>
            <a:off x="457200" y="365760"/>
            <a:ext cx="11277600" cy="1200000"/>
          </a:xfrm>
          <a:prstGeom prst="rect">
            <a:avLst/>
          </a:prstGeom>
          <a:solidFill>
            <a:srgbClr val="2563EB"/>
          </a:solidFill>
        </p:spPr>
        <p:txBody>
          <a:bodyPr vertOverflow="clip" horzOverflow="clip" wrap="square" lIns="182880" tIns="182880" rIns="182880" bIns="182880"/>
          <a:lstStyle/>
          <a:p>
            <a:r>
              <a:rPr lang="en-US" sz="2800" b="1">
                <a:solidFill>
                  <a:srgbClr val="FFFFFF"/>
                </a:solidFill>
              </a:rPr>
              <a:t>Flood Crisis &amp; Emergency Rescue Challenges</a:t>
            </a:r>
          </a:p>
          <a:p>
            <a:r>
              <a:rPr lang="en-US" sz="1600" i="1">
                <a:solidFill>
                  <a:srgbClr val="DBEAFE"/>
                </a:solidFill>
              </a:rPr>
              <a:t>Critical Search &amp; Rescue Bottlenecks in Submerged Regions</a:t>
            </a:r>
          </a:p>
        </p:txBody>
      </p:sp>
      <!-- Main Body Box -->
      <p:sp>
        <p:nvSpPr>
          <p:cNvPr id="3" name="Content Text Box"/>
          <p:cNvSpPr/>
          <p:nvPr/>
        </p:nvSpPr>
        <p:spPr>
          <a:xfrm>
            <a:off x="609600" y="1828800"/>
            <a:ext cx="10972800" cy="4572000"/>
          </a:xfrm>
          <a:prstGeom prst="rect">
            <a:avLst/>
          </a:prstGeom>
          <a:solidFill>
            <a:srgbClr val="F8F9FA"/>
          </a:solidFill>
          <a:ln w="19050">
            <a:solidFill>
              <a:srgbClr val="BFDBFE"/>
            </a:solidFill>
          </a:ln>
        </p:spPr>
        <p:txBody>
          <a:bodyPr vertOverflow="clip" horzOverflow="clip" wrap="square" lIns="288000" tIns="288000" rIns="288000" bIns="288000"/>
          <a:lstStyle/>
          <a:p>
            <a:r>
              <a:rPr lang="en-US" sz="2000">
                <a:solidFill>
                  <a:srgbClr val="333333"/>
                </a:solidFill>
              </a:rPr>
              <a:t>• Submerged Infrastructure: Flood waters isolate rooftops, trees &amp; cut off road access</a:t>
            </a:r>
          </a:p>
          <a:p>
            <a:r>
              <a:rPr lang="en-US" sz="2000">
                <a:solidFill>
                  <a:srgbClr val="333333"/>
                </a:solidFill>
              </a:rPr>
              <a:t>• Time Criticality: Rising currents increase risk of drowning; fast victim discovery is vital</a:t>
            </a:r>
          </a:p>
          <a:p>
            <a:r>
              <a:rPr lang="en-US" sz="2000">
                <a:solidFill>
                  <a:srgbClr val="333333"/>
                </a:solidFill>
              </a:rPr>
              <a:t>• Solution: Deploy drone vision to rapidly scan submerged zones &amp; locate trapped survivors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ckground Header Shape (Flood Theme Blue/Orange) -->
      <p:sp>
        <p:nvSpPr>
          <p:cNvPr id="2" name="Header Banner"/>
          <p:cNvSpPr/>
          <p:nvPr/>
        </p:nvSpPr>
        <p:spPr>
          <a:xfrm>
            <a:off x="457200" y="365760"/>
            <a:ext cx="11277600" cy="1200000"/>
          </a:xfrm>
          <a:prstGeom prst="rect">
            <a:avLst/>
          </a:prstGeom>
          <a:solidFill>
            <a:srgbClr val="2563EB"/>
          </a:solidFill>
        </p:spPr>
        <p:txBody>
          <a:bodyPr vertOverflow="clip" horzOverflow="clip" wrap="square" lIns="182880" tIns="182880" rIns="182880" bIns="182880"/>
          <a:lstStyle/>
          <a:p>
            <a:r>
              <a:rPr lang="en-US" sz="2800" b="1">
                <a:solidFill>
                  <a:srgbClr val="FFFFFF"/>
                </a:solidFill>
              </a:rPr>
              <a:t>Flood Response Architecture &amp; Tech Stack</a:t>
            </a:r>
          </a:p>
          <a:p>
            <a:r>
              <a:rPr lang="en-US" sz="1600" i="1">
                <a:solidFill>
                  <a:srgbClr val="DBEAFE"/>
                </a:solidFill>
              </a:rPr>
              <a:t>Resilient Full-Stack Design for Severe Weather Operations</a:t>
            </a:r>
          </a:p>
        </p:txBody>
      </p:sp>
      <!-- Main Body Box -->
      <p:sp>
        <p:nvSpPr>
          <p:cNvPr id="3" name="Content Text Box"/>
          <p:cNvSpPr/>
          <p:nvPr/>
        </p:nvSpPr>
        <p:spPr>
          <a:xfrm>
            <a:off x="609600" y="1828800"/>
            <a:ext cx="10972800" cy="4572000"/>
          </a:xfrm>
          <a:prstGeom prst="rect">
            <a:avLst/>
          </a:prstGeom>
          <a:solidFill>
            <a:srgbClr val="F8F9FA"/>
          </a:solidFill>
          <a:ln w="19050">
            <a:solidFill>
              <a:srgbClr val="BFDBFE"/>
            </a:solidFill>
          </a:ln>
        </p:spPr>
        <p:txBody>
          <a:bodyPr vertOverflow="clip" horzOverflow="clip" wrap="square" lIns="288000" tIns="288000" rIns="288000" bIns="288000"/>
          <a:lstStyle/>
          <a:p>
            <a:r>
              <a:rPr lang="en-US" sz="2000">
                <a:solidFill>
                  <a:srgbClr val="333333"/>
                </a:solidFill>
              </a:rPr>
              <a:t>• Web Dashboard: Leaflet.js GIS mapping with flood scan grid, WebRTC, TensorFlow.js</a:t>
            </a:r>
          </a:p>
          <a:p>
            <a:r>
              <a:rPr lang="en-US" sz="2000">
                <a:solidFill>
                  <a:srgbClr val="333333"/>
                </a:solidFill>
              </a:rPr>
              <a:t>• Backend / Engine: Python 3, OpenCV (cv2), Flask REST API &amp; MJPEG Video Streaming</a:t>
            </a:r>
          </a:p>
          <a:p>
            <a:r>
              <a:rPr lang="en-US" sz="2000">
                <a:solidFill>
                  <a:srgbClr val="333333"/>
                </a:solidFill>
              </a:rPr>
              <a:t>• Deployment Suite: 1-click launcher, YOLO downloader &amp; diagnostic installation tester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ckground Header Shape (Flood Theme Blue/Orange) -->
      <p:sp>
        <p:nvSpPr>
          <p:cNvPr id="2" name="Header Banner"/>
          <p:cNvSpPr/>
          <p:nvPr/>
        </p:nvSpPr>
        <p:spPr>
          <a:xfrm>
            <a:off x="457200" y="365760"/>
            <a:ext cx="11277600" cy="1200000"/>
          </a:xfrm>
          <a:prstGeom prst="rect">
            <a:avLst/>
          </a:prstGeom>
          <a:solidFill>
            <a:srgbClr val="2563EB"/>
          </a:solidFill>
        </p:spPr>
        <p:txBody>
          <a:bodyPr vertOverflow="clip" horzOverflow="clip" wrap="square" lIns="182880" tIns="182880" rIns="182880" bIns="182880"/>
          <a:lstStyle/>
          <a:p>
            <a:r>
              <a:rPr lang="en-US" sz="2800" b="1">
                <a:solidFill>
                  <a:srgbClr val="FFFFFF"/>
                </a:solidFill>
              </a:rPr>
              <a:t>Dual AI Detection Engine for Flood Zones</a:t>
            </a:r>
          </a:p>
          <a:p>
            <a:r>
              <a:rPr lang="en-US" sz="1600" i="1">
                <a:solidFill>
                  <a:srgbClr val="DBEAFE"/>
                </a:solidFill>
              </a:rPr>
              <a:t>High-Precision Aerial Vision Over Water &amp; Submerged Rooftops</a:t>
            </a:r>
          </a:p>
        </p:txBody>
      </p:sp>
      <!-- Main Body Box -->
      <p:sp>
        <p:nvSpPr>
          <p:cNvPr id="3" name="Content Text Box"/>
          <p:cNvSpPr/>
          <p:nvPr/>
        </p:nvSpPr>
        <p:spPr>
          <a:xfrm>
            <a:off x="609600" y="1828800"/>
            <a:ext cx="10972800" cy="4572000"/>
          </a:xfrm>
          <a:prstGeom prst="rect">
            <a:avLst/>
          </a:prstGeom>
          <a:solidFill>
            <a:srgbClr val="F8F9FA"/>
          </a:solidFill>
          <a:ln w="19050">
            <a:solidFill>
              <a:srgbClr val="BFDBFE"/>
            </a:solidFill>
          </a:ln>
        </p:spPr>
        <p:txBody>
          <a:bodyPr vertOverflow="clip" horzOverflow="clip" wrap="square" lIns="288000" tIns="288000" rIns="288000" bIns="288000"/>
          <a:lstStyle/>
          <a:p>
            <a:r>
              <a:rPr lang="en-US" sz="2000">
                <a:solidFill>
                  <a:srgbClr val="333333"/>
                </a:solidFill>
              </a:rPr>
              <a:t>• Haar Cascade Classifier: Built-in OpenCV, ultra-fast (60+ FPS), zero-download CPU fallback</a:t>
            </a:r>
          </a:p>
          <a:p>
            <a:r>
              <a:rPr lang="en-US" sz="2000">
                <a:solidFill>
                  <a:srgbClr val="333333"/>
                </a:solidFill>
              </a:rPr>
              <a:t>• YOLO v3 &amp; COCO-SSD: Deep learning (90-95% accuracy) over water &amp; reflective surfaces</a:t>
            </a:r>
          </a:p>
          <a:p>
            <a:r>
              <a:rPr lang="en-US" sz="2000">
                <a:solidFill>
                  <a:srgbClr val="333333"/>
                </a:solidFill>
              </a:rPr>
              <a:t>• Target Objects: Stranded Humans (👤) + Flood-impacted Livestock/Pets (🐾) (Cows, Dogs, Cats, etc.)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ckground Header Shape (Flood Theme Blue/Orange) -->
      <p:sp>
        <p:nvSpPr>
          <p:cNvPr id="2" name="Header Banner"/>
          <p:cNvSpPr/>
          <p:nvPr/>
        </p:nvSpPr>
        <p:spPr>
          <a:xfrm>
            <a:off x="457200" y="365760"/>
            <a:ext cx="11277600" cy="1200000"/>
          </a:xfrm>
          <a:prstGeom prst="rect">
            <a:avLst/>
          </a:prstGeom>
          <a:solidFill>
            <a:srgbClr val="2563EB"/>
          </a:solidFill>
        </p:spPr>
        <p:txBody>
          <a:bodyPr vertOverflow="clip" horzOverflow="clip" wrap="square" lIns="182880" tIns="182880" rIns="182880" bIns="182880"/>
          <a:lstStyle/>
          <a:p>
            <a:r>
              <a:rPr lang="en-US" sz="2800" b="1">
                <a:solidFill>
                  <a:srgbClr val="FFFFFF"/>
                </a:solidFill>
              </a:rPr>
              <a:t>Interactive Flood Mission Command Dashboard</a:t>
            </a:r>
          </a:p>
          <a:p>
            <a:r>
              <a:rPr lang="en-US" sz="1600" i="1">
                <a:solidFill>
                  <a:srgbClr val="DBEAFE"/>
                </a:solidFill>
              </a:rPr>
              <a:t>Real-Time GIS Telemetry for Aerial Flood Operations</a:t>
            </a:r>
          </a:p>
        </p:txBody>
      </p:sp>
      <!-- Main Body Box -->
      <p:sp>
        <p:nvSpPr>
          <p:cNvPr id="3" name="Content Text Box"/>
          <p:cNvSpPr/>
          <p:nvPr/>
        </p:nvSpPr>
        <p:spPr>
          <a:xfrm>
            <a:off x="609600" y="1828800"/>
            <a:ext cx="10972800" cy="4572000"/>
          </a:xfrm>
          <a:prstGeom prst="rect">
            <a:avLst/>
          </a:prstGeom>
          <a:solidFill>
            <a:srgbClr val="F8F9FA"/>
          </a:solidFill>
          <a:ln w="19050">
            <a:solidFill>
              <a:srgbClr val="BFDBFE"/>
            </a:solidFill>
          </a:ln>
        </p:spPr>
        <p:txBody>
          <a:bodyPr vertOverflow="clip" horzOverflow="clip" wrap="square" lIns="288000" tIns="288000" rIns="288000" bIns="288000"/>
          <a:lstStyle/>
          <a:p>
            <a:r>
              <a:rPr lang="en-US" sz="2000">
                <a:solidFill>
                  <a:srgbClr val="333333"/>
                </a:solidFill>
              </a:rPr>
              <a:t>• Flood Location Presets: Covered across 8 flood-prone Indian States &amp; Major Cities</a:t>
            </a:r>
          </a:p>
          <a:p>
            <a:r>
              <a:rPr lang="en-US" sz="2000">
                <a:solidFill>
                  <a:srgbClr val="333333"/>
                </a:solidFill>
              </a:rPr>
              <a:t>• 2km Flood Coverage Radius: Visual drone scan area &amp; animated grid overlay on map</a:t>
            </a:r>
          </a:p>
          <a:p>
            <a:r>
              <a:rPr lang="en-US" sz="2000">
                <a:solidFill>
                  <a:srgbClr val="333333"/>
                </a:solidFill>
              </a:rPr>
              <a:t>• Live Victim Tracking: Real-time counter &amp; geo-coded map pins for stranded survivors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ckground Header Shape (Flood Theme Blue/Orange) -->
      <p:sp>
        <p:nvSpPr>
          <p:cNvPr id="2" name="Header Banner"/>
          <p:cNvSpPr/>
          <p:nvPr/>
        </p:nvSpPr>
        <p:spPr>
          <a:xfrm>
            <a:off x="457200" y="365760"/>
            <a:ext cx="11277600" cy="1200000"/>
          </a:xfrm>
          <a:prstGeom prst="rect">
            <a:avLst/>
          </a:prstGeom>
          <a:solidFill>
            <a:srgbClr val="2563EB"/>
          </a:solidFill>
        </p:spPr>
        <p:txBody>
          <a:bodyPr vertOverflow="clip" horzOverflow="clip" wrap="square" lIns="182880" tIns="182880" rIns="182880" bIns="182880"/>
          <a:lstStyle/>
          <a:p>
            <a:r>
              <a:rPr lang="en-US" sz="2800" b="1">
                <a:solidFill>
                  <a:srgbClr val="FFFFFF"/>
                </a:solidFill>
              </a:rPr>
              <a:t>5-Step Flood Mission Operational Workflow</a:t>
            </a:r>
          </a:p>
          <a:p>
            <a:r>
              <a:rPr lang="en-US" sz="1600" i="1">
                <a:solidFill>
                  <a:srgbClr val="DBEAFE"/>
                </a:solidFill>
              </a:rPr>
              <a:t>Standardized Protocol for Aerial Flood Search &amp; Rescue</a:t>
            </a:r>
          </a:p>
        </p:txBody>
      </p:sp>
      <!-- Main Body Box -->
      <p:sp>
        <p:nvSpPr>
          <p:cNvPr id="3" name="Content Text Box"/>
          <p:cNvSpPr/>
          <p:nvPr/>
        </p:nvSpPr>
        <p:spPr>
          <a:xfrm>
            <a:off x="609600" y="1828800"/>
            <a:ext cx="10972800" cy="4572000"/>
          </a:xfrm>
          <a:prstGeom prst="rect">
            <a:avLst/>
          </a:prstGeom>
          <a:solidFill>
            <a:srgbClr val="F8F9FA"/>
          </a:solidFill>
          <a:ln w="19050">
            <a:solidFill>
              <a:srgbClr val="BFDBFE"/>
            </a:solidFill>
          </a:ln>
        </p:spPr>
        <p:txBody>
          <a:bodyPr vertOverflow="clip" horzOverflow="clip" wrap="square" lIns="288000" tIns="288000" rIns="288000" bIns="288000"/>
          <a:lstStyle/>
          <a:p>
            <a:r>
              <a:rPr lang="en-US" sz="2000">
                <a:solidFill>
                  <a:srgbClr val="333333"/>
                </a:solidFill>
              </a:rPr>
              <a:t>1. Select FLOOD Disaster Mode (🌊) &amp; Target Submerged Location (State/City)</a:t>
            </a:r>
          </a:p>
          <a:p>
            <a:r>
              <a:rPr lang="en-US" sz="2000">
                <a:solidFill>
                  <a:srgbClr val="333333"/>
                </a:solidFill>
              </a:rPr>
              <a:t>2. Launch Drone ('Take Off') &amp; Project 2km Flood Scanning Grid Area</a:t>
            </a:r>
          </a:p>
          <a:p>
            <a:r>
              <a:rPr lang="en-US" sz="2000">
                <a:solidFill>
                  <a:srgbClr val="333333"/>
                </a:solidFill>
              </a:rPr>
              <a:t>3. Enable Video Stream ('Cam On') &amp; Activate Real-Time Victim Detection</a:t>
            </a:r>
          </a:p>
          <a:p>
            <a:r>
              <a:rPr lang="en-US" sz="2000">
                <a:solidFill>
                  <a:srgbClr val="333333"/>
                </a:solidFill>
              </a:rPr>
              <a:t>4. View Real-Time Map Markers &amp; Live Count of Stranded Victims</a:t>
            </a:r>
          </a:p>
          <a:p>
            <a:r>
              <a:rPr lang="en-US" sz="2000">
                <a:solidFill>
                  <a:srgbClr val="333333"/>
                </a:solidFill>
              </a:rPr>
              <a:t>5. Export Timestamped Flood Rescue Dispatch Log ('R' key / API)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ckground Header Shape (Flood Theme Blue/Orange) -->
      <p:sp>
        <p:nvSpPr>
          <p:cNvPr id="2" name="Header Banner"/>
          <p:cNvSpPr/>
          <p:nvPr/>
        </p:nvSpPr>
        <p:spPr>
          <a:xfrm>
            <a:off x="457200" y="365760"/>
            <a:ext cx="11277600" cy="1200000"/>
          </a:xfrm>
          <a:prstGeom prst="rect">
            <a:avLst/>
          </a:prstGeom>
          <a:solidFill>
            <a:srgbClr val="2563EB"/>
          </a:solidFill>
        </p:spPr>
        <p:txBody>
          <a:bodyPr vertOverflow="clip" horzOverflow="clip" wrap="square" lIns="182880" tIns="182880" rIns="182880" bIns="182880"/>
          <a:lstStyle/>
          <a:p>
            <a:r>
              <a:rPr lang="en-US" sz="2800" b="1">
                <a:solidFill>
                  <a:srgbClr val="FFFFFF"/>
                </a:solidFill>
              </a:rPr>
              <a:t>Automated Flood Rescue Dispatch Reporting</a:t>
            </a:r>
          </a:p>
          <a:p>
            <a:r>
              <a:rPr lang="en-US" sz="1600" i="1">
                <a:solidFill>
                  <a:srgbClr val="DBEAFE"/>
                </a:solidFill>
              </a:rPr>
              <a:t>Rapid Data Handoff to NDRF / Boat Rescue Crews</a:t>
            </a:r>
          </a:p>
        </p:txBody>
      </p:sp>
      <!-- Main Body Box -->
      <p:sp>
        <p:nvSpPr>
          <p:cNvPr id="3" name="Content Text Box"/>
          <p:cNvSpPr/>
          <p:nvPr/>
        </p:nvSpPr>
        <p:spPr>
          <a:xfrm>
            <a:off x="609600" y="1828800"/>
            <a:ext cx="10972800" cy="4572000"/>
          </a:xfrm>
          <a:prstGeom prst="rect">
            <a:avLst/>
          </a:prstGeom>
          <a:solidFill>
            <a:srgbClr val="F8F9FA"/>
          </a:solidFill>
          <a:ln w="19050">
            <a:solidFill>
              <a:srgbClr val="BFDBFE"/>
            </a:solidFill>
          </a:ln>
        </p:spPr>
        <p:txBody>
          <a:bodyPr vertOverflow="clip" horzOverflow="clip" wrap="square" lIns="288000" tIns="288000" rIns="288000" bIns="288000"/>
          <a:lstStyle/>
          <a:p>
            <a:r>
              <a:rPr lang="en-US" sz="2000">
                <a:solidFill>
                  <a:srgbClr val="333333"/>
                </a:solidFill>
              </a:rPr>
              <a:t>• Standardized Report Export for boat rescue teams &amp; emergency dispatchers</a:t>
            </a:r>
          </a:p>
          <a:p>
            <a:r>
              <a:rPr lang="en-US" sz="2000">
                <a:solidFill>
                  <a:srgbClr val="333333"/>
                </a:solidFill>
              </a:rPr>
              <a:t>• Key Metrics: Mission ID, ISO Timestamp, Submerged Location Coordinates</a:t>
            </a:r>
          </a:p>
          <a:p>
            <a:r>
              <a:rPr lang="en-US" sz="2000">
                <a:solidFill>
                  <a:srgbClr val="333333"/>
                </a:solidFill>
              </a:rPr>
              <a:t>• Victim Breakdown: Stranded Humans on roofs/water, Marooned Livestock count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ckground Header Shape (Flood Theme Blue/Orange) -->
      <p:sp>
        <p:nvSpPr>
          <p:cNvPr id="2" name="Header Banner"/>
          <p:cNvSpPr/>
          <p:nvPr/>
        </p:nvSpPr>
        <p:spPr>
          <a:xfrm>
            <a:off x="457200" y="365760"/>
            <a:ext cx="11277600" cy="1200000"/>
          </a:xfrm>
          <a:prstGeom prst="rect">
            <a:avLst/>
          </a:prstGeom>
          <a:solidFill>
            <a:srgbClr val="2563EB"/>
          </a:solidFill>
        </p:spPr>
        <p:txBody>
          <a:bodyPr vertOverflow="clip" horzOverflow="clip" wrap="square" lIns="182880" tIns="182880" rIns="182880" bIns="182880"/>
          <a:lstStyle/>
          <a:p>
            <a:r>
              <a:rPr lang="en-US" sz="2800" b="1">
                <a:solidFill>
                  <a:srgbClr val="FFFFFF"/>
                </a:solidFill>
              </a:rPr>
              <a:t>Work Completed: Delivered Flood Modules</a:t>
            </a:r>
          </a:p>
          <a:p>
            <a:r>
              <a:rPr lang="en-US" sz="1600" i="1">
                <a:solidFill>
                  <a:srgbClr val="DBEAFE"/>
                </a:solidFill>
              </a:rPr>
              <a:t>Production-Ready Software Stack Built for Flood Emergencies</a:t>
            </a:r>
          </a:p>
        </p:txBody>
      </p:sp>
      <!-- Main Body Box -->
      <p:sp>
        <p:nvSpPr>
          <p:cNvPr id="3" name="Content Text Box"/>
          <p:cNvSpPr/>
          <p:nvPr/>
        </p:nvSpPr>
        <p:spPr>
          <a:xfrm>
            <a:off x="609600" y="1828800"/>
            <a:ext cx="10972800" cy="4572000"/>
          </a:xfrm>
          <a:prstGeom prst="rect">
            <a:avLst/>
          </a:prstGeom>
          <a:solidFill>
            <a:srgbClr val="F8F9FA"/>
          </a:solidFill>
          <a:ln w="19050">
            <a:solidFill>
              <a:srgbClr val="BFDBFE"/>
            </a:solidFill>
          </a:ln>
        </p:spPr>
        <p:txBody>
          <a:bodyPr vertOverflow="clip" horzOverflow="clip" wrap="square" lIns="288000" tIns="288000" rIns="288000" bIns="288000"/>
          <a:lstStyle/>
          <a:p>
            <a:r>
              <a:rPr lang="en-US" sz="2000">
                <a:solidFill>
                  <a:srgbClr val="333333"/>
                </a:solidFill>
              </a:rPr>
              <a:t>• Standalone Python App (drone_detection.py) tailored for flood mission control</a:t>
            </a:r>
          </a:p>
          <a:p>
            <a:r>
              <a:rPr lang="en-US" sz="2000">
                <a:solidFill>
                  <a:srgbClr val="333333"/>
                </a:solidFill>
              </a:rPr>
              <a:t>• Flask Web Server Backend &amp; REST API (app_backend.py) for stream relay</a:t>
            </a:r>
          </a:p>
          <a:p>
            <a:r>
              <a:rPr lang="en-US" sz="2000">
                <a:solidFill>
                  <a:srgbClr val="333333"/>
                </a:solidFill>
              </a:rPr>
              <a:t>• Interactive Frontend Dashboard with TensorFlow.js (index.html, app.js, styles.css)</a:t>
            </a:r>
          </a:p>
          <a:p>
            <a:r>
              <a:rPr lang="en-US" sz="2000">
                <a:solidFill>
                  <a:srgbClr val="333333"/>
                </a:solidFill>
              </a:rPr>
              <a:t>• Setup &amp; Diagnostics Suite (setup_yolo.py, test_installation.py, run_drone_mission.bat)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ckground Header Shape (Flood Theme Blue/Orange) -->
      <p:sp>
        <p:nvSpPr>
          <p:cNvPr id="2" name="Header Banner"/>
          <p:cNvSpPr/>
          <p:nvPr/>
        </p:nvSpPr>
        <p:spPr>
          <a:xfrm>
            <a:off x="457200" y="365760"/>
            <a:ext cx="11277600" cy="1200000"/>
          </a:xfrm>
          <a:prstGeom prst="rect">
            <a:avLst/>
          </a:prstGeom>
          <a:solidFill>
            <a:srgbClr val="2563EB"/>
          </a:solidFill>
        </p:spPr>
        <p:txBody>
          <a:bodyPr vertOverflow="clip" horzOverflow="clip" wrap="square" lIns="182880" tIns="182880" rIns="182880" bIns="182880"/>
          <a:lstStyle/>
          <a:p>
            <a:r>
              <a:rPr lang="en-US" sz="2800" b="1">
                <a:solidFill>
                  <a:srgbClr val="FFFFFF"/>
                </a:solidFill>
              </a:rPr>
              <a:t>Field Reliability &amp; Diagnostic Verification</a:t>
            </a:r>
          </a:p>
          <a:p>
            <a:r>
              <a:rPr lang="en-US" sz="1600" i="1">
                <a:solidFill>
                  <a:srgbClr val="DBEAFE"/>
                </a:solidFill>
              </a:rPr>
              <a:t>High Availability Under Severe Flood &amp; Offline Conditions</a:t>
            </a:r>
          </a:p>
        </p:txBody>
      </p:sp>
      <!-- Main Body Box -->
      <p:sp>
        <p:nvSpPr>
          <p:cNvPr id="3" name="Content Text Box"/>
          <p:cNvSpPr/>
          <p:nvPr/>
        </p:nvSpPr>
        <p:spPr>
          <a:xfrm>
            <a:off x="609600" y="1828800"/>
            <a:ext cx="10972800" cy="4572000"/>
          </a:xfrm>
          <a:prstGeom prst="rect">
            <a:avLst/>
          </a:prstGeom>
          <a:solidFill>
            <a:srgbClr val="F8F9FA"/>
          </a:solidFill>
          <a:ln w="19050">
            <a:solidFill>
              <a:srgbClr val="BFDBFE"/>
            </a:solidFill>
          </a:ln>
        </p:spPr>
        <p:txBody>
          <a:bodyPr vertOverflow="clip" horzOverflow="clip" wrap="square" lIns="288000" tIns="288000" rIns="288000" bIns="288000"/>
          <a:lstStyle/>
          <a:p>
            <a:r>
              <a:rPr lang="en-US" sz="2000">
                <a:solidFill>
                  <a:srgbClr val="333333"/>
                </a:solidFill>
              </a:rPr>
              <a:t>• test_installation.py: Automated verification of OpenCV, NumPy &amp; Flask requirements</a:t>
            </a:r>
          </a:p>
          <a:p>
            <a:r>
              <a:rPr lang="en-US" sz="2000">
                <a:solidFill>
                  <a:srgbClr val="333333"/>
                </a:solidFill>
              </a:rPr>
              <a:t>• Offline Operation: Full execution capability when storm damage severs cellular networks</a:t>
            </a:r>
          </a:p>
          <a:p>
            <a:r>
              <a:rPr lang="en-US" sz="2000">
                <a:solidFill>
                  <a:srgbClr val="333333"/>
                </a:solidFill>
              </a:rPr>
              <a:t>• Fail-Safe Fallback: Graceful transition from YOLO to Haar Cascade if model files are missing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ckground Header Shape (Flood Theme Blue/Orange) -->
      <p:sp>
        <p:nvSpPr>
          <p:cNvPr id="2" name="Header Banner"/>
          <p:cNvSpPr/>
          <p:nvPr/>
        </p:nvSpPr>
        <p:spPr>
          <a:xfrm>
            <a:off x="457200" y="365760"/>
            <a:ext cx="11277600" cy="1200000"/>
          </a:xfrm>
          <a:prstGeom prst="rect">
            <a:avLst/>
          </a:prstGeom>
          <a:solidFill>
            <a:srgbClr val="2563EB"/>
          </a:solidFill>
        </p:spPr>
        <p:txBody>
          <a:bodyPr vertOverflow="clip" horzOverflow="clip" wrap="square" lIns="182880" tIns="182880" rIns="182880" bIns="182880"/>
          <a:lstStyle/>
          <a:p>
            <a:r>
              <a:rPr lang="en-US" sz="2800" b="1">
                <a:solidFill>
                  <a:srgbClr val="FFFFFF"/>
                </a:solidFill>
              </a:rPr>
              <a:t>Future Roadmap: Next-Gen Flood Rescue Swarms</a:t>
            </a:r>
          </a:p>
          <a:p>
            <a:r>
              <a:rPr lang="en-US" sz="1600" i="1">
                <a:solidFill>
                  <a:srgbClr val="DBEAFE"/>
                </a:solidFill>
              </a:rPr>
              <a:t>Scaling Flood Operations with Thermal Vision &amp; Payload Droppers</a:t>
            </a:r>
          </a:p>
        </p:txBody>
      </p:sp>
      <!-- Main Body Box -->
      <p:sp>
        <p:nvSpPr>
          <p:cNvPr id="3" name="Content Text Box"/>
          <p:cNvSpPr/>
          <p:nvPr/>
        </p:nvSpPr>
        <p:spPr>
          <a:xfrm>
            <a:off x="609600" y="1828800"/>
            <a:ext cx="10972800" cy="4572000"/>
          </a:xfrm>
          <a:prstGeom prst="rect">
            <a:avLst/>
          </a:prstGeom>
          <a:solidFill>
            <a:srgbClr val="F8F9FA"/>
          </a:solidFill>
          <a:ln w="19050">
            <a:solidFill>
              <a:srgbClr val="BFDBFE"/>
            </a:solidFill>
          </a:ln>
        </p:spPr>
        <p:txBody>
          <a:bodyPr vertOverflow="clip" horzOverflow="clip" wrap="square" lIns="288000" tIns="288000" rIns="288000" bIns="288000"/>
          <a:lstStyle/>
          <a:p>
            <a:r>
              <a:rPr lang="en-US" sz="2000">
                <a:solidFill>
                  <a:srgbClr val="333333"/>
                </a:solidFill>
              </a:rPr>
              <a:t>• Thermal / FLIR Camera Integration: Spotting body-heat signatures through heavy rain &amp; night floods</a:t>
            </a:r>
          </a:p>
          <a:p>
            <a:r>
              <a:rPr lang="en-US" sz="2000">
                <a:solidFill>
                  <a:srgbClr val="333333"/>
                </a:solidFill>
              </a:rPr>
              <a:t>• Flight Controller Autopilot: Direct MavLink / ArduPilot telemetry for GPS drop coordinates</a:t>
            </a:r>
          </a:p>
          <a:p>
            <a:r>
              <a:rPr lang="en-US" sz="2000">
                <a:solidFill>
                  <a:srgbClr val="333333"/>
                </a:solidFill>
              </a:rPr>
              <a:t>• Swarm Fleet &amp; Life-Jacket Droppers: Multi-drone flood search with automated buoy deployment</a:t>
            </a:r>
          </a:p>
        </p:txBody>
      </p:sp>
    </p:spTree>
  </p:cSld>
</p:sld>
</file>

<file path=ppt/theme/theme1.xml><?xml version="1.0" encoding="utf-8"?>
<a:theme xmlns:a="http://schemas.openxmlformats.org/drawingml/2006/main" name="Dark Tech Theme">
  <a:themeElements>
    <a:clrScheme name="SentinelEye">
      <a:dk1>
        <a:srgbClr val="0F1117"/>
      </a:dk1>
      <a:lt1>
        <a:srgbClr val="FFFFFF"/>
      </a:lt1>
      <a:dk2>
        <a:srgbClr val="1A1D27"/>
      </a:dk2>
      <a:lt2>
        <a:srgbClr val="F5F5F5"/>
      </a:lt2>
      <a:accent1>
        <a:srgbClr val="3B82F6"/>
      </a:accent1>
      <a:accent2>
        <a:srgbClr val="FF6B35"/>
      </a:accent2>
      <a:accent3>
        <a:srgbClr val="10B981"/>
      </a:accent3>
      <a:accent4>
        <a:srgbClr val="F59E0B"/>
      </a:accent4>
      <a:accent5>
        <a:srgbClr val="8B5CF6"/>
      </a:accent5>
      <a:accent6>
        <a:srgbClr val="EC4899"/>
      </a:accent6>
      <a:hlink>
        <a:srgbClr val="3B82F6"/>
      </a:hlink>
      <a:folHlink>
        <a:srgbClr val="FF6B35"/>
      </a:folHlink>
    </a:clrScheme>
    <a:fontScheme name="Custom">
      <a:majorFont>
        <a:latin typeface="Segoe UI"/>
      </a:majorFont>
      <a:minorFont>
        <a:latin typeface="Segoe UI"/>
      </a:minorFont>
    </a:fontScheme>
    <a:fmtScheme name="Office">
      <a:fillStyleLst>
        <a:solidFill>
          <a:schemeClr val="bg1"/>
        </a:solidFill>
        <a:solidFill>
          <a:schemeClr val="bg1"/>
        </a:solidFill>
        <a:solidFill>
          <a:schemeClr val="bg1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Lst/>
        <a:effectLst/>
        <a:effectLst/>
      </a:effectStyleLst>
      <a:bgFillStyleLst>
        <a:solidFill>
          <a:schemeClr val="bg1"/>
        </a:solidFill>
        <a:solidFill>
          <a:schemeClr val="bg1"/>
        </a:solidFill>
        <a:solidFill>
          <a:schemeClr val="bg1"/>
        </a:solidFill>
      </a:bgFillStyleLst>
    </a:fmtScheme>
  </a:themeElements>
</a:theme>
</file>