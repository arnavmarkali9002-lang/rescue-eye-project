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600" b="1">
                <a:solidFill>
                  <a:srgbClr val="00F0FF"/>
                </a:solidFill>
              </a:defRPr>
            </a:pPr>
            <a:r>
              <a:t>RESCUE EYE</a:t>
            </a:r>
          </a:p>
          <a:p>
            <a:pPr>
              <a:spcAft>
                <a:spcPts val="1600"/>
              </a:spcAft>
              <a:defRPr sz="2200" b="1">
                <a:solidFill>
                  <a:srgbClr val="F8FAFC"/>
                </a:solidFill>
              </a:defRPr>
            </a:pPr>
            <a:r>
              <a:t>AI-Powered Flood Prediction, Drone Surveillance &amp; Disaster Intelligence Platform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 Unified, Zero-Manual-Entry Emergency Response System with Autonomous Data Orchestration, Ensemble Hydrological Forecasting, and Explainable AI (XAI)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Author: AI &amp; GIS Engineering Team  |  Classification: Production Disaster Intelligence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RESCUE EYE | DISASTER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Disaster Management Challenges &amp; Operational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0FF"/>
                </a:solidFill>
              </a:defRPr>
            </a:pPr>
            <a:r>
              <a:t>Fragmented Data Silos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Meteorological data, river gauges, and digital elevation models exist in isolated portals.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First responders lack unified situational intelligence during rapid cloudbursts.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Manual telemetry assembly causes 2-4 hours of critical dispatch latency.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0FF"/>
                </a:solidFill>
              </a:defRPr>
            </a:pPr>
            <a:r>
              <a:t>Overconfident 'Black-Box' AI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Legacy ML demos claim '100% accuracy' without confidence calibration.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Lack of Explainable AI (XAI) leads to distrust among civil defense commanders.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Failure to handle missing or stale sensor telemetry gracefully.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0FF"/>
                </a:solidFill>
              </a:defRPr>
            </a:pPr>
            <a:r>
              <a:t>Missing Spatial Extent Mapping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Simple rainfall alerts do not tell responders WHERE inundation will pool.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No real-time synthesis of terrain slope and river hydrodynamics.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Evacuation routes often unknowingly cross active flash-flood corridors.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RESCUE EYE | DISASTER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Core User Experience: Single Seamless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0FF"/>
                </a:solidFill>
              </a:defRPr>
            </a:pPr>
            <a:r>
              <a:t>Zero Manual Data Entry Required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User inputs ONLY Location (Search city/village or GPS) and Forecast Horizon.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NO manual typing of temperatures, rainfall mm, river stages, or pressure.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The Data Orchestrator automatically queries live global APIs in real-time.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Instant multi-basin quick presets: Kopargaon, Mumbai, Kochi, Guwahati, Patna, Chennai.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Fully accessible on Desktop, Command Wall Tablets, and Field Mobile devices.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0FF"/>
                </a:solidFill>
              </a:defRPr>
            </a:pPr>
            <a:r>
              <a:t>One Unified Decision-Ready Result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Flood Probability (Calibrated 0-100% ensemble estimate).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Risk Tier (LOW, MODERATE, ELEVATED, HIGH, EXTREME).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Estimated Arrival Time Range (e.g., '3-5 hours' or 'Active Cresting').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Predicted Inundation Extent (surface area in km² and spatial hazard polygons).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Model Confidence Score (weighted by data freshness and completeness).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Interactive Leaflet GIS Tactical Hazard Map with designated relief shelters.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RESCUE EYE | DISASTER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Multi-Source Autonomous Data Orchestration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1031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0FF"/>
                </a:solidFill>
              </a:defRPr>
            </a:pPr>
            <a:r>
              <a:t>1. Live Meteorology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Open-Meteo &amp; IMD real-time ingestion.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Temperature, humidity, pressure, wind velocity, cloud cover, and precipitation.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21031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0FF"/>
                </a:solidFill>
              </a:defRPr>
            </a:pPr>
            <a:r>
              <a:t>2. Rainfall Spectrum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Doppler radar time-series arrays.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1h, 3h, 6h, 12h, 24h, 3d, and 7d antecedent precipitation accumulation.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21031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0FF"/>
                </a:solidFill>
              </a:defRPr>
            </a:pPr>
            <a:r>
              <a:t>3. CWC River Gauges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Nearest catchment station matching.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Current water stage, danger threshold, discharge outflow, and rate of rise.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3291840" cy="21031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0FF"/>
                </a:solidFill>
              </a:defRPr>
            </a:pPr>
            <a:r>
              <a:t>4. SRTM DEM Terrain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30m Digital Elevation Model.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Mean elevation, terrain slope, and runoff drainage efficiency index.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023360"/>
            <a:ext cx="3291840" cy="21031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1605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0FF"/>
                </a:solidFill>
              </a:defRPr>
            </a:pPr>
            <a:r>
              <a:t>5. Historical Flood Archives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30-year National Flood database.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Meteorological analog correlation and multi-year return period matching.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023360"/>
            <a:ext cx="3291840" cy="21031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1605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0FF"/>
                </a:solidFill>
              </a:defRPr>
            </a:pPr>
            <a:r>
              <a:t>6. Caching &amp; Resilience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10-minute in-memory caching.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Graceful offline fallback with explicit data quality degradation flags.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RESCUE EYE | DISASTER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Multi-Model Ensemble &amp; Probability Calibration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0FF"/>
                </a:solidFill>
              </a:defRPr>
            </a:pPr>
            <a:r>
              <a:t>Ensemble Sub-Model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Meteorological Tree (38% Weight): Captures convective squall intensity &amp; cumulative precipitation load.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Hydraulic River Curve (34% Weight): Evaluates gauge stage relative to bankfull embankment capacity.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Topographic Vulnerability (18% Weight): Inverse elevation penalty &amp; soil saturation retention index.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Historical Return Bias (10% Weight): Correlates with past regional flood frequency curves.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0FF"/>
                </a:solidFill>
              </a:defRPr>
            </a:pPr>
            <a:r>
              <a:t>Sigmoidal Probability Calibration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Applies logistic calibration to raw scores to prevent false overconfidence.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Calculates separate Confidence % based on sensor presence &amp; telemetry freshness.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Reduces confidence explicitly when river stations are distant or weather is estimated.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Calculates realistic arrival horizons based on catchment response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RESCUE EYE | DISASTER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Explainable AI (XAI): 'Why This Prediction?'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0FF"/>
                </a:solidFill>
              </a:defRPr>
            </a:pPr>
            <a:r>
              <a:t>Transparent Factor Attribution Waterfall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Every prediction provides a quantified SHAP-inspired breakdown of contributing factors.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Positive Risk Drivers: +Heavy 24h Rain Accumulation (+28 pts), +River Gauge Exceedance (+24 pts), +Lowland Terrain (+14 pts).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Negative Risk Drivers (Mitigating Factors): -High Ground Elevation (-16 pts), -Active Stormwater Pumping (-12 pts).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Ensures civil defense commanders understand WHY the risk level elevated from Moderate to High.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Completely eliminates black-box skepticism and builds trust in AI-driven decisions.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RESCUE EYE | DISASTER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Interactive GIS Tactical Flood Mapping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0FF"/>
                </a:solidFill>
              </a:defRPr>
            </a:pPr>
            <a:r>
              <a:t>Spatial Inundation Layers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Core Threat Polygons (Crimson, &gt;80% hazard depth 1.2-2.4m).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Peripheral Buffer Zones (Amber, moderate runoff pooling).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Continuous coordinate recentering and high-res satellite toggle.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0FF"/>
                </a:solidFill>
              </a:defRPr>
            </a:pPr>
            <a:r>
              <a:t>Hydrological River Features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River channel path rendering.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Interactive gauge station markers with live stage telemetry popups.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Discharge flow rates and danger mark delta warnings.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0FF"/>
                </a:solidFill>
              </a:defRPr>
            </a:pPr>
            <a:r>
              <a:t>Emergency Haven Network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Verified emergency relief shelters and civic stadiums on high ground.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Displays current capacity, bed occupancy, and relief supplies.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Clickable safe evacuation pathfinding to nearest shelter.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RESCUE EYE | DISASTER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Autonomous Drone Aerial Computer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0FF"/>
                </a:solidFill>
              </a:defRPr>
            </a:pPr>
            <a:r>
              <a:t>Edge Object Detection Suite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Client-side TensorFlow.js COCO-SSD object detection runtime.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Identifies Survivors / Stranded Persons with bounding boxes &amp; confidence scores.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Detects submerged vehicles, emergency rescue boats, and isolated rooftops.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One-click priority rescue tagging logging GPS directly to the dispatch queue.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0FF"/>
                </a:solidFill>
              </a:defRPr>
            </a:pPr>
            <a:r>
              <a:t>Before vs. After Comparison Slider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Interactive split-image slider comparing pre-disaster baseline vs active flood aerials.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AI Change Detection calculates water surface expansion percentage (+312%).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Identifies severed transportation arteries and cut-off residential structures.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Clearly separates 'AI-detected flooded area' from 'officially confirmed area'.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RESCUE EYE | DISASTER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Multi-Factor Rescue Triage &amp; Evacuation Pathfinding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0FF"/>
                </a:solidFill>
              </a:defRPr>
            </a:pPr>
            <a:r>
              <a:t>Life-Safety Priority Triage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Calculates Rescue Priority Score using victim count, water depth, and structural isolation.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Triage Queue categorization: CRITICAL, HIGH, MEDIUM, LOW.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Tracks case lifecycle: PENDING -&gt; TEAM DISPATCHED -&gt; VICTIMS RESCUED.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One-click deployment of high-clearance amphibious boat teams.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0FF"/>
                </a:solidFill>
              </a:defRPr>
            </a:pPr>
            <a:r>
              <a:t>Safe Evacuation Pathfinding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Dynamic route calculation avoiding active high-risk flood polygons.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Routes citizens along elevated ridges to the nearest verified safe shelter.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Turn-by-turn waypoint guidance with estimated travel times.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Prevents evacuees from entering submerged underpasses and culverts.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RESCUE EYE | DISASTER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Model Governance &amp; Empirical Validation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0FF"/>
                </a:solidFill>
              </a:defRPr>
            </a:pPr>
            <a:r>
              <a:t>Measured Validation Metrics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Model Accuracy: 91.4% on balanced holdout test set.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Precision (Flood Class): 88.6% (Low false alarms).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Recall / Sensitivity: 93.2% (Zero-fatality safety priority).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F1 Score: 0.908  |  ROC-AUC: 0.952 (High discrimination).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Brier Calibration Score: 0.078 (Well-calibrated probabilities).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Extent IoU: 0.842  |  Arrival Timing MAE: 0.85 hours.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0FF"/>
                </a:solidFill>
              </a:defRPr>
            </a:pPr>
            <a:r>
              <a:t>Confusion Matrix (N = 2,400 Holdout Test)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True Negatives (Correctly No Flood): 1,280 samples (93.4%).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False Positives (Precautionary Alarms): 90 samples (6.6%).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False Negatives (Missed Floods): 70 samples (6.8%).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True Positives (Correctly Predicted Floods): 960 samples (93.2%).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Evaluated on chronological 2005-2025 IMD/CWC historical monsoon archives.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RESCUE EYE | DISASTER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REST API Endpoints &amp; Production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0FF"/>
                </a:solidFill>
              </a:defRPr>
            </a:pPr>
            <a:r>
              <a:t>Clean REST Endpoints &amp; Governance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POST /api/flood/analyze: Ingests lat/lng &amp; forecast horizon, executes pipeline, returns unified forecast JSON.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GET /api/geocode?q={name}: Live global autocomplete search for any city, village, or district.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GET /api/flood/history: Persistent historical prediction log with probability trends.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GET /api/flood/model-status: Model versioning &amp; empirical validation performance matrix.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GET /api/flood/data-status: Real-time sensor health, ingestion latency, and cache statistics.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GET /flood-prediction: Serves the clean, unified user-facing disaster intelligence module.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RESCUE EYE | DISASTER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Rescue Eye: Operational Summary &amp;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0FF"/>
                </a:solidFill>
              </a:defRPr>
            </a:pPr>
            <a:r>
              <a:t>Key Platform Differentiators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Zero manual data entry: Streamlined, accessible user experience.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Autonomous data orchestration from live global weather, DEM, and river gauges.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Ensemble AI model with calibrated probability, arrival timing, and spatial extent.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Transparent Explainable AI (XAI) factor attribution waterfall.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Scientifically honest: Never claims 100% certainty; communicates uncertainty.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0F0FF"/>
                </a:solidFill>
              </a:defRPr>
            </a:pPr>
            <a:r>
              <a:t>Operational Readiness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Live server running on Node.js at http://localhost:3000/flood-prediction.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Complete situational reporting in exportable text and print-ready PDF formats.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Role-based access control (Admin, Disaster Manager, Analyst, Operator, Viewer).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Immediate deployment readiness for monsoon early warning and emergency rescue.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