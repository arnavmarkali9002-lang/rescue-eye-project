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Good morning respected guide and panel members. Today we present Rescue Eye, an intelligent AI-based disaster management system designed to predict floods hours in advance, detect stranded victims using aerial drone vision and live CCTV, and automatically dispatch the right rescue team with a live countdown clock.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In India, floods cause massive casualties because existing warnings arrive hours too late. Rescue teams are dispatched blindly without knowing where victims are or how many people need help. A 4-hour advance warning can reduce deaths by 78%, which is the exact problem Rescue Eye solves.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Our solution operates in three simple, connected steps: First, PREDICT flood risks hours in advance with zero manual input. Second, DETECT stranded victims visually using AI on drones and live cameras. Third, DISPATCH the right rescue team automatically and track their approach with a live ticking countdown clock.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In existing tools, officers must manually type rainfall numbers and river heights, which is slow and error-prone. In Rescue Eye, you just click your location. In under two seconds, it automatically fetches live weather, river levels, and elevation models, giving an honest 0 to 100% flood probability and expected water arrival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Disaster commanders often mistrust AI because standard models don't explain why a risk is high. Rescue Eye uses Explainable AI to show the exact evidence: for example, plus 28% from 68 mm heavy rainfall and plus 24% from Godavari river reaching 94% capacity. This gives officials complete confidence to order evacuations.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Instead of sending confusing text alerts, Rescue Eye provides an interactive GIS map. Red zones highlight dangerous flooded streets, while green pins show verified safe shelters on high ground. The system automatically plots safe evacuation routes that steer citizens away from submerged roads directly to safety.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When roads are submerged, aerial drones provide our eyes in the sky. Rescue Eye runs TensorFlow.js object detection directly inside the browser. It automatically spots stranded people on rooftops and submerged cars, pinning their exact GPS coordinates into the rescue queue with a single click.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We built a live CCTV Surveillance Wall for the command center. When a citizen opens the app, their live camera feed streams directly into the admin monitor wall. The admin sees live video across multiple sectors with real-time AI victim counts overlaid, allowing instant situational awareness.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A major innovation in Rescue Eye is Smart Team Sizing. The system analyzes the video, counts the victims, and auto-assigns the right team: a Quick Response Unit for 1 person, an NDRF Motorboat for 2 to 3 persons, or a Heavy Taskforce for large groups. It calculates the disaster distance and shows a live ticking countdown clock until the rescue team arrives.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For trapped citizens who are panicking, Rescue Eye provides a one-click Emergency SOS beacon. Tapping the button immediately transmits their GPS location to the command center. The citizen immediately sees their dispatched team name and a live countdown timer showing help is on the way.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WHAT TO SAY (20-Second Speaker Script):</a:t>
            </a:r>
          </a:p>
          <a:p/>
          <a:p>
            <a:r>
              <a:t>In conclusion, Rescue Eye achieves 91.4% accuracy and 93.2% recall across 2,400 historical flood events. It is a 100% web-based platform that requires no expensive hardware and is ready for real-world deployment. Our system is fully running on localhost, and we are excited to demonstrate it live right now.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54864"/>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anjivani_logo.png"/>
          <p:cNvPicPr>
            <a:picLocks noChangeAspect="1"/>
          </p:cNvPicPr>
          <p:nvPr/>
        </p:nvPicPr>
        <p:blipFill>
          <a:blip r:embed="rId2"/>
          <a:stretch>
            <a:fillRect/>
          </a:stretch>
        </p:blipFill>
        <p:spPr>
          <a:xfrm>
            <a:off x="365760" y="73152"/>
            <a:ext cx="1051560" cy="1051560"/>
          </a:xfrm>
          <a:prstGeom prst="rect">
            <a:avLst/>
          </a:prstGeom>
        </p:spPr>
      </p:pic>
      <p:sp>
        <p:nvSpPr>
          <p:cNvPr id="5" name="TextBox 4"/>
          <p:cNvSpPr txBox="1"/>
          <p:nvPr/>
        </p:nvSpPr>
        <p:spPr>
          <a:xfrm>
            <a:off x="1463040" y="109728"/>
            <a:ext cx="10241280" cy="1005840"/>
          </a:xfrm>
          <a:prstGeom prst="rect">
            <a:avLst/>
          </a:prstGeom>
          <a:noFill/>
        </p:spPr>
        <p:txBody>
          <a:bodyPr wrap="square">
            <a:spAutoFit/>
          </a:bodyPr>
          <a:lstStyle/>
          <a:p>
            <a:pPr algn="ctr">
              <a:defRPr sz="2200" b="1">
                <a:solidFill>
                  <a:srgbClr val="FFFFFF"/>
                </a:solidFill>
              </a:defRPr>
            </a:pPr>
            <a:r>
              <a:t>Sanjivani College of Engineering, Kopargaon</a:t>
            </a:r>
          </a:p>
          <a:p>
            <a:pPr algn="ctr">
              <a:defRPr sz="1300" i="1">
                <a:solidFill>
                  <a:srgbClr val="E0F2FE"/>
                </a:solidFill>
              </a:defRPr>
            </a:pPr>
            <a:r>
              <a:t>(An Autonomous Institute, Affiliated to SPPU, Pune)</a:t>
            </a:r>
          </a:p>
          <a:p>
            <a:pPr algn="ctr">
              <a:defRPr sz="1300" i="1">
                <a:solidFill>
                  <a:srgbClr val="E0F2FE"/>
                </a:solidFill>
              </a:defRPr>
            </a:pPr>
            <a:r>
              <a:t>Department of Computer Engineering, NBA Tier-1 Accredited</a:t>
            </a:r>
          </a:p>
        </p:txBody>
      </p:sp>
      <p:sp>
        <p:nvSpPr>
          <p:cNvPr id="6" name="TextBox 5"/>
          <p:cNvSpPr txBox="1"/>
          <p:nvPr/>
        </p:nvSpPr>
        <p:spPr>
          <a:xfrm>
            <a:off x="914400" y="1554480"/>
            <a:ext cx="10362895" cy="2926080"/>
          </a:xfrm>
          <a:prstGeom prst="rect">
            <a:avLst/>
          </a:prstGeom>
          <a:noFill/>
        </p:spPr>
        <p:txBody>
          <a:bodyPr wrap="square">
            <a:spAutoFit/>
          </a:bodyPr>
          <a:lstStyle/>
          <a:p>
            <a:pPr algn="ctr">
              <a:spcAft>
                <a:spcPts val="600"/>
              </a:spcAft>
              <a:defRPr sz="2300" b="1">
                <a:solidFill>
                  <a:srgbClr val="0A6B7E"/>
                </a:solidFill>
              </a:defRPr>
            </a:pPr>
            <a:r>
              <a:t>Mini Project Implementation &amp; Defense Presentation</a:t>
            </a:r>
          </a:p>
          <a:p>
            <a:pPr algn="ctr">
              <a:spcAft>
                <a:spcPts val="1200"/>
              </a:spcAft>
              <a:defRPr sz="1700" b="1" i="1">
                <a:solidFill>
                  <a:srgbClr val="C04A10"/>
                </a:solidFill>
              </a:defRPr>
            </a:pPr>
            <a:r>
              <a:t>T.Y. B.Tech – Computer Engineering | AY [ 2026–2027 ] | Div-A</a:t>
            </a:r>
          </a:p>
          <a:p>
            <a:pPr algn="ctr">
              <a:defRPr sz="2800" b="1" i="1">
                <a:solidFill>
                  <a:srgbClr val="800000"/>
                </a:solidFill>
              </a:defRPr>
            </a:pPr>
            <a:r>
              <a:t>Rescue Eye: AI-Based Flood Prediction &amp;</a:t>
            </a:r>
            <a:br/>
            <a:r>
              <a:t>Drone Disaster Response System</a:t>
            </a:r>
          </a:p>
        </p:txBody>
      </p:sp>
      <p:sp>
        <p:nvSpPr>
          <p:cNvPr id="7" name="TextBox 6"/>
          <p:cNvSpPr txBox="1"/>
          <p:nvPr/>
        </p:nvSpPr>
        <p:spPr>
          <a:xfrm>
            <a:off x="1371600" y="4663440"/>
            <a:ext cx="9448495" cy="1463040"/>
          </a:xfrm>
          <a:prstGeom prst="rect">
            <a:avLst/>
          </a:prstGeom>
          <a:noFill/>
        </p:spPr>
        <p:txBody>
          <a:bodyPr wrap="square">
            <a:spAutoFit/>
          </a:bodyPr>
          <a:lstStyle/>
          <a:p>
            <a:pPr algn="ctr">
              <a:spcAft>
                <a:spcPts val="400"/>
              </a:spcAft>
              <a:defRPr sz="1350" b="1">
                <a:solidFill>
                  <a:srgbClr val="10365C"/>
                </a:solidFill>
              </a:defRPr>
            </a:pPr>
            <a:r>
              <a:t>Submitted By: Student Team (Div-A)  |  Roll Nos: [ 01, 02, 03, 04 ]</a:t>
            </a:r>
          </a:p>
          <a:p>
            <a:pPr algn="ctr">
              <a:defRPr sz="1500" b="1">
                <a:solidFill>
                  <a:srgbClr val="10365C"/>
                </a:solidFill>
              </a:defRPr>
            </a:pPr>
            <a:r>
              <a:t>Under the Guidance of: Dr. B.J. Dange, Associate Professor</a:t>
            </a:r>
          </a:p>
        </p:txBody>
      </p:sp>
      <p:sp>
        <p:nvSpPr>
          <p:cNvPr id="8" name="Rectangle 7"/>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55664"/>
            <a:ext cx="11094415" cy="365760"/>
          </a:xfrm>
          <a:prstGeom prst="rect">
            <a:avLst/>
          </a:prstGeom>
          <a:noFill/>
        </p:spPr>
        <p:txBody>
          <a:bodyPr wrap="none">
            <a:spAutoFit/>
          </a:bodyPr>
          <a:lstStyle/>
          <a:p>
            <a:pPr algn="ctr">
              <a:defRPr sz="1150" b="1">
                <a:solidFill>
                  <a:srgbClr val="FFFFFF"/>
                </a:solidFill>
              </a:defRPr>
            </a:pPr>
            <a:r>
              <a:t>www.sanjivanicoe.org.in</a:t>
            </a:r>
          </a:p>
        </p:txBody>
      </p:sp>
      <p:sp>
        <p:nvSpPr>
          <p:cNvPr id="11" name="TextBox 10"/>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2. The Core Problem: Why Floods Turn Fatal</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3 Fatal Bottlenecks in Disaster Response</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Late Warnings (Manual Delays): Traditional flood alerts arrive 2 to 4 hours after riverbanks have already breached.</a:t>
            </a:r>
          </a:p>
          <a:p>
            <a:pPr>
              <a:spcAft>
                <a:spcPts val="600"/>
              </a:spcAft>
              <a:defRPr sz="1150">
                <a:solidFill>
                  <a:srgbClr val="1E293B"/>
                </a:solidFill>
              </a:defRPr>
            </a:pPr>
            <a:r>
              <a:t>•   Blind Rescue Operations: First responders (NDRF / SDRF) have zero aerial visibility. They don't know where victims are trapped until calls arrive.</a:t>
            </a:r>
          </a:p>
          <a:p>
            <a:pPr>
              <a:spcAft>
                <a:spcPts val="600"/>
              </a:spcAft>
              <a:defRPr sz="1150">
                <a:solidFill>
                  <a:srgbClr val="1E293B"/>
                </a:solidFill>
              </a:defRPr>
            </a:pPr>
            <a:r>
              <a:t>•   Resource Sizing Guesswork: Authorities guess how many boats to send, causing either dangerous shortages or wasted emergency assets.</a:t>
            </a:r>
          </a:p>
          <a:p>
            <a:pPr>
              <a:spcAft>
                <a:spcPts val="600"/>
              </a:spcAft>
              <a:defRPr sz="1150">
                <a:solidFill>
                  <a:srgbClr val="1E293B"/>
                </a:solidFill>
              </a:defRPr>
            </a:pPr>
            <a:r>
              <a:t>•   Disconnected Systems: Weather alerts, citizen distress calls, and boat dispatch operate in isolated silos.</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Existing alerts arrive 2–4 hrs too late. Rescue Eye eliminates manual delays and delivers actionable maps.</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Ground Reality &amp; Impact</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40+ Million Hectares flood-prone across India (e.g. Godavari Basin at Kopargaon, Mithi River at Mumbai).</a:t>
            </a:r>
          </a:p>
          <a:p>
            <a:pPr>
              <a:spcAft>
                <a:spcPts val="700"/>
              </a:spcAft>
              <a:defRPr sz="1150">
                <a:solidFill>
                  <a:srgbClr val="1E293B"/>
                </a:solidFill>
              </a:defRPr>
            </a:pPr>
            <a:r>
              <a:t>•   ₹50,000+ Crores lost annually in destroyed bridges, roads, electricity lines, and crops.</a:t>
            </a:r>
          </a:p>
          <a:p>
            <a:pPr>
              <a:spcAft>
                <a:spcPts val="700"/>
              </a:spcAft>
              <a:defRPr sz="1150">
                <a:solidFill>
                  <a:srgbClr val="1E293B"/>
                </a:solidFill>
              </a:defRPr>
            </a:pPr>
            <a:r>
              <a:t>•   The Life-Saving Metric: A 4-hour advance flood warning reduces casualties by up to 78%!</a:t>
            </a:r>
          </a:p>
          <a:p>
            <a:pPr>
              <a:spcAft>
                <a:spcPts val="700"/>
              </a:spcAft>
              <a:defRPr sz="1150">
                <a:solidFill>
                  <a:srgbClr val="1E293B"/>
                </a:solidFill>
              </a:defRPr>
            </a:pPr>
            <a:r>
              <a:t>•   Zero Hardware Cost: Rescue Eye is 100% web software running on open APIs without expensive sensor hardware.</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3. The Solution: Our 3-Step Life-Saving Pipeline</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Our Solution in One Sentence</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Mission: 'Predict Floods Early, Spot Stranded Survivors with AI, and Dispatch the Right Rescue Team with Live ETA.'</a:t>
            </a:r>
          </a:p>
          <a:p>
            <a:pPr>
              <a:spcAft>
                <a:spcPts val="600"/>
              </a:spcAft>
              <a:defRPr sz="1150">
                <a:solidFill>
                  <a:srgbClr val="1E293B"/>
                </a:solidFill>
              </a:defRPr>
            </a:pPr>
            <a:r>
              <a:t>•   Zero Manual Typing: Select any city or click GPS; weather, river, and elevation data load in under 2 seconds.</a:t>
            </a:r>
          </a:p>
          <a:p>
            <a:pPr>
              <a:spcAft>
                <a:spcPts val="600"/>
              </a:spcAft>
              <a:defRPr sz="1150">
                <a:solidFill>
                  <a:srgbClr val="1E293B"/>
                </a:solidFill>
              </a:defRPr>
            </a:pPr>
            <a:r>
              <a:t>•   Decoupled Web Architecture: Trapped citizens on mobile connect seamlessly to disaster commanders on the admin CCTV wall.</a:t>
            </a:r>
          </a:p>
          <a:p>
            <a:pPr>
              <a:spcAft>
                <a:spcPts val="600"/>
              </a:spcAft>
              <a:defRPr sz="1150">
                <a:solidFill>
                  <a:srgbClr val="1E293B"/>
                </a:solidFill>
              </a:defRPr>
            </a:pPr>
            <a:r>
              <a:t>•   100% Scalable: Works across all major Indian river basins without physical sensor installations.</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3 Simple Steps: 1. PREDICT risk early -&gt; 2. DETECT victims via AI -&gt; 3. DISPATCH the right team with live ETA.</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The 3 Connected Phases</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Phase 1: PREDICT (Before Flood): Ingests live rainfall, river gauge, and elevation. Computes calibrated 0–100% flood risk.</a:t>
            </a:r>
          </a:p>
          <a:p>
            <a:pPr>
              <a:spcAft>
                <a:spcPts val="700"/>
              </a:spcAft>
              <a:defRPr sz="1150">
                <a:solidFill>
                  <a:srgbClr val="1E293B"/>
                </a:solidFill>
              </a:defRPr>
            </a:pPr>
            <a:r>
              <a:t>•   Phase 2: DETECT (During Flood): TensorFlow.js Edge AI scans drone video and citizen live webcam feeds to spot stranded victims.</a:t>
            </a:r>
          </a:p>
          <a:p>
            <a:pPr>
              <a:spcAft>
                <a:spcPts val="700"/>
              </a:spcAft>
              <a:defRPr sz="1150">
                <a:solidFill>
                  <a:srgbClr val="1E293B"/>
                </a:solidFill>
              </a:defRPr>
            </a:pPr>
            <a:r>
              <a:t>•   Phase 3: DISPATCH (Rescue Action): Counts victims, auto-selects right team (QRU, Motorboat, Amphibious), and shows live ticking approach countdown.</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4. Step 1: Zero-Manual Flood Prediction</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Automated Ingestion (&lt; 2 Seconds)</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Zero Manual Input: User chooses a location (e.g. Kopargaon, Mumbai, Kochi) or clicks GPS; all telemetry loads in 1.5 seconds.</a:t>
            </a:r>
          </a:p>
          <a:p>
            <a:pPr>
              <a:spcAft>
                <a:spcPts val="600"/>
              </a:spcAft>
              <a:defRPr sz="1150">
                <a:solidFill>
                  <a:srgbClr val="1E293B"/>
                </a:solidFill>
              </a:defRPr>
            </a:pPr>
            <a:r>
              <a:t>•   Open-Meteo Weather API: Fetches 1h rain intensity, 24h accumulation, and 7-day soil moisture saturation buildup.</a:t>
            </a:r>
          </a:p>
          <a:p>
            <a:pPr>
              <a:spcAft>
                <a:spcPts val="600"/>
              </a:spcAft>
              <a:defRPr sz="1150">
                <a:solidFill>
                  <a:srgbClr val="1E293B"/>
                </a:solidFill>
              </a:defRPr>
            </a:pPr>
            <a:r>
              <a:t>•   Central Water Commission (CWC): Pulls real-time river stage levels and dam discharge rates.</a:t>
            </a:r>
          </a:p>
          <a:p>
            <a:pPr>
              <a:spcAft>
                <a:spcPts val="600"/>
              </a:spcAft>
              <a:defRPr sz="1150">
                <a:solidFill>
                  <a:srgbClr val="1E293B"/>
                </a:solidFill>
              </a:defRPr>
            </a:pPr>
            <a:r>
              <a:t>•   SRTM Digital Elevation Model (DEM): Identifies low-lying terrain depressions prone to rapid water pooling.</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Zero typing: click location -&gt; live APIs load in 1.5s -&gt; calibrated 0–100% flood risk &amp; arrival lead time.</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Honest, Calibrated Risk Output</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Calibrated Flood Probability: Sigmoidal curve delivers an honest 0–100% probability (e.g. 84% — HIGH RISK).</a:t>
            </a:r>
          </a:p>
          <a:p>
            <a:pPr>
              <a:spcAft>
                <a:spcPts val="700"/>
              </a:spcAft>
              <a:defRPr sz="1150">
                <a:solidFill>
                  <a:srgbClr val="1E293B"/>
                </a:solidFill>
              </a:defRPr>
            </a:pPr>
            <a:r>
              <a:t>•   Water Arrival Lead Time: Calculates exact time before water crest breaches banks (e.g. Crest Arrival: 3.5 Hours).</a:t>
            </a:r>
          </a:p>
          <a:p>
            <a:pPr>
              <a:spcAft>
                <a:spcPts val="700"/>
              </a:spcAft>
              <a:defRPr sz="1150">
                <a:solidFill>
                  <a:srgbClr val="1E293B"/>
                </a:solidFill>
              </a:defRPr>
            </a:pPr>
            <a:r>
              <a:t>•   Explicit Model Confidence: The system lowers confidence if live sensor telemetry is delayed, ensuring scientific honesty.</a:t>
            </a:r>
          </a:p>
          <a:p>
            <a:pPr>
              <a:spcAft>
                <a:spcPts val="700"/>
              </a:spcAft>
              <a:defRPr sz="1150">
                <a:solidFill>
                  <a:srgbClr val="1E293B"/>
                </a:solidFill>
              </a:defRPr>
            </a:pPr>
            <a:r>
              <a:t>•   Zero Proprietary Sensors: Operates completely on open meteorological data streams.</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5. Step 2: Explainable AI (Why is Risk High?)</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Eliminating the 'Black Box' Mystery</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The Problem with Standard AI: Standard neural nets output a number without explaining why. Officers cannot order costly evacuations without evidence.</a:t>
            </a:r>
          </a:p>
          <a:p>
            <a:pPr>
              <a:spcAft>
                <a:spcPts val="600"/>
              </a:spcAft>
              <a:defRPr sz="1150">
                <a:solidFill>
                  <a:srgbClr val="1E293B"/>
                </a:solidFill>
              </a:defRPr>
            </a:pPr>
            <a:r>
              <a:t>•   Explainable AI (XAI) Solution: Rescue Eye details the exact positive and negative physical drivers behind every prediction.</a:t>
            </a:r>
          </a:p>
          <a:p>
            <a:pPr>
              <a:spcAft>
                <a:spcPts val="600"/>
              </a:spcAft>
              <a:defRPr sz="1150">
                <a:solidFill>
                  <a:srgbClr val="1E293B"/>
                </a:solidFill>
              </a:defRPr>
            </a:pPr>
            <a:r>
              <a:t>•   Operational Trust: Civil defense officers and NDRF commanders have concrete physical proof before issuing disaster orders.</a:t>
            </a:r>
          </a:p>
          <a:p>
            <a:pPr>
              <a:spcAft>
                <a:spcPts val="600"/>
              </a:spcAft>
              <a:defRPr sz="1150">
                <a:solidFill>
                  <a:srgbClr val="1E293B"/>
                </a:solidFill>
              </a:defRPr>
            </a:pPr>
            <a:r>
              <a:t>•   Full Auditability: Predictions can be reviewed historically with complete factor attribution logs.</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No black box: Shows +28% rain, +24% river level, -8% terrain slope. Officers see exact evidence.</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Live Factor Attribution Waterfall</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 Positive Risk Drivers (Escalating Hazard):</a:t>
            </a:r>
          </a:p>
          <a:p>
            <a:pPr>
              <a:spcAft>
                <a:spcPts val="700"/>
              </a:spcAft>
              <a:defRPr sz="1150">
                <a:solidFill>
                  <a:srgbClr val="1E293B"/>
                </a:solidFill>
              </a:defRPr>
            </a:pPr>
            <a:r>
              <a:t>•      • Heavy 24h Rainfall: +68 mm downpour (+28% risk impact)</a:t>
            </a:r>
          </a:p>
          <a:p>
            <a:pPr>
              <a:spcAft>
                <a:spcPts val="700"/>
              </a:spcAft>
              <a:defRPr sz="1150">
                <a:solidFill>
                  <a:srgbClr val="1E293B"/>
                </a:solidFill>
              </a:defRPr>
            </a:pPr>
            <a:r>
              <a:t>•      • River Surge: Godavari at 94% danger mark (+24% risk impact)</a:t>
            </a:r>
          </a:p>
          <a:p>
            <a:pPr>
              <a:spcAft>
                <a:spcPts val="700"/>
              </a:spcAft>
              <a:defRPr sz="1150">
                <a:solidFill>
                  <a:srgbClr val="1E293B"/>
                </a:solidFill>
              </a:defRPr>
            </a:pPr>
            <a:r>
              <a:t>•      • Terrain Depression: Low elevation basin (+12% risk impact)</a:t>
            </a:r>
          </a:p>
          <a:p>
            <a:pPr>
              <a:spcAft>
                <a:spcPts val="700"/>
              </a:spcAft>
              <a:defRPr sz="1150">
                <a:solidFill>
                  <a:srgbClr val="1E293B"/>
                </a:solidFill>
              </a:defRPr>
            </a:pPr>
            <a:r>
              <a:t>•   🔻 Mitigating Negative Factors (Reducing Hazard):</a:t>
            </a:r>
          </a:p>
          <a:p>
            <a:pPr>
              <a:spcAft>
                <a:spcPts val="700"/>
              </a:spcAft>
              <a:defRPr sz="1150">
                <a:solidFill>
                  <a:srgbClr val="1E293B"/>
                </a:solidFill>
              </a:defRPr>
            </a:pPr>
            <a:r>
              <a:t>•      • Steep Natural Slope: Natural drainage gravity runoff (-8% risk)</a:t>
            </a:r>
          </a:p>
          <a:p>
            <a:pPr>
              <a:spcAft>
                <a:spcPts val="700"/>
              </a:spcAft>
              <a:defRPr sz="1150">
                <a:solidFill>
                  <a:srgbClr val="1E293B"/>
                </a:solidFill>
              </a:defRPr>
            </a:pPr>
            <a:r>
              <a:t>•      • Active Municipal Sluices: Stormwater pumping active (-6% risk)</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6. Step 3: Interactive GIS Flood &amp; Evacuation Map</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Visual Street-Level Tactical Awareness</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Replaces Vague Text Alerts: District SMS warnings panic people without showing which neighborhood streets are safe.</a:t>
            </a:r>
          </a:p>
          <a:p>
            <a:pPr>
              <a:spcAft>
                <a:spcPts val="600"/>
              </a:spcAft>
              <a:defRPr sz="1150">
                <a:solidFill>
                  <a:srgbClr val="1E293B"/>
                </a:solidFill>
              </a:defRPr>
            </a:pPr>
            <a:r>
              <a:t>•   Dynamic Leaflet.js GIS Radar: Renders exact flood depth boundaries directly over satellite and street map layers.</a:t>
            </a:r>
          </a:p>
          <a:p>
            <a:pPr>
              <a:spcAft>
                <a:spcPts val="600"/>
              </a:spcAft>
              <a:defRPr sz="1150">
                <a:solidFill>
                  <a:srgbClr val="1E293B"/>
                </a:solidFill>
              </a:defRPr>
            </a:pPr>
            <a:r>
              <a:t>•   Verified Safe Havens: Green icons mark certified emergency relief shelters located safely on high ground.</a:t>
            </a:r>
          </a:p>
          <a:p>
            <a:pPr>
              <a:spcAft>
                <a:spcPts val="600"/>
              </a:spcAft>
              <a:defRPr sz="1150">
                <a:solidFill>
                  <a:srgbClr val="1E293B"/>
                </a:solidFill>
              </a:defRPr>
            </a:pPr>
            <a:r>
              <a:t>•   Smart Turn-by-Turn Routing: Automatically routes citizens around flooded roads directly to the nearest shelter.</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Interactive GIS map shows red danger polygons, green high-ground shelters, and safe detour routes.</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Tactical Map Elements</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 Red Inundation Polygons: Core hazard zone where water depth exceeds 1.5m. Direct danger to life.</a:t>
            </a:r>
          </a:p>
          <a:p>
            <a:pPr>
              <a:spcAft>
                <a:spcPts val="700"/>
              </a:spcAft>
              <a:defRPr sz="1150">
                <a:solidFill>
                  <a:srgbClr val="1E293B"/>
                </a:solidFill>
              </a:defRPr>
            </a:pPr>
            <a:r>
              <a:t>•   🟠 Orange Peripheral Buffer: Fringe water pooling (0.5m – 1.0m depth). Caution for vehicles.</a:t>
            </a:r>
          </a:p>
          <a:p>
            <a:pPr>
              <a:spcAft>
                <a:spcPts val="700"/>
              </a:spcAft>
              <a:defRPr sz="1150">
                <a:solidFill>
                  <a:srgbClr val="1E293B"/>
                </a:solidFill>
              </a:defRPr>
            </a:pPr>
            <a:r>
              <a:t>•   🟢 Green Verified Safe Havens: Designated relief camps and stadiums with food, power, and medical aid.</a:t>
            </a:r>
          </a:p>
          <a:p>
            <a:pPr>
              <a:spcAft>
                <a:spcPts val="700"/>
              </a:spcAft>
              <a:defRPr sz="1150">
                <a:solidFill>
                  <a:srgbClr val="1E293B"/>
                </a:solidFill>
              </a:defRPr>
            </a:pPr>
            <a:r>
              <a:t>•   🛣️ Real-Time Road Obstacle Avoidance: Bypasses submerged roads, bridges, and washed-out culverts.</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7. Step 4: Drone AI Aerial Vision &amp; Survivor Spotting</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Browser-Based Edge AI (TensorFlow.js)</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Client-Side Edge Inference: Runs TensorFlow.js COCO-SSD directly in the browser at 25+ FPS.</a:t>
            </a:r>
          </a:p>
          <a:p>
            <a:pPr>
              <a:spcAft>
                <a:spcPts val="600"/>
              </a:spcAft>
              <a:defRPr sz="1150">
                <a:solidFill>
                  <a:srgbClr val="1E293B"/>
                </a:solidFill>
              </a:defRPr>
            </a:pPr>
            <a:r>
              <a:t>•   Zero Expensive Server GPU Needed: Operates smoothly on standard field laptops, tablets, or drone operator units.</a:t>
            </a:r>
          </a:p>
          <a:p>
            <a:pPr>
              <a:spcAft>
                <a:spcPts val="600"/>
              </a:spcAft>
              <a:defRPr sz="1150">
                <a:solidFill>
                  <a:srgbClr val="1E293B"/>
                </a:solidFill>
              </a:defRPr>
            </a:pPr>
            <a:r>
              <a:t>•   1-Click Rescue Pinning: Clicking any spotted victim automatically logs their exact latitude/longitude into the dispatch queue.</a:t>
            </a:r>
          </a:p>
          <a:p>
            <a:pPr>
              <a:spcAft>
                <a:spcPts val="600"/>
              </a:spcAft>
              <a:defRPr sz="1150">
                <a:solidFill>
                  <a:srgbClr val="1E293B"/>
                </a:solidFill>
              </a:defRPr>
            </a:pPr>
            <a:r>
              <a:t>•   Works in Field Conditions: Browser model runs locally even during temporary network interruptions.</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Edge TensorFlow.js detects humans on rooftops at 25+ FPS. 1 click pins their GPS coordinates for rescue boats.</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Real-Time Reconnaissance Capabilities</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Stranded Victim Detection: Locates and tracks humans trapped on rooftops, terraces, balconies, and trees.</a:t>
            </a:r>
          </a:p>
          <a:p>
            <a:pPr>
              <a:spcAft>
                <a:spcPts val="700"/>
              </a:spcAft>
              <a:defRPr sz="1150">
                <a:solidFill>
                  <a:srgbClr val="1E293B"/>
                </a:solidFill>
              </a:defRPr>
            </a:pPr>
            <a:r>
              <a:t>•   Vessel &amp; Asset Recognition: Identifies rescue boats, submerged civilian vehicles, and floating hazards.</a:t>
            </a:r>
          </a:p>
          <a:p>
            <a:pPr>
              <a:spcAft>
                <a:spcPts val="700"/>
              </a:spcAft>
              <a:defRPr sz="1150">
                <a:solidFill>
                  <a:srgbClr val="1E293B"/>
                </a:solidFill>
              </a:defRPr>
            </a:pPr>
            <a:r>
              <a:t>•   Interactive Split Slider: Compares pre-flood satellite photography with drone video to calculate surface expansion (+312% flood spread).</a:t>
            </a:r>
          </a:p>
          <a:p>
            <a:pPr>
              <a:spcAft>
                <a:spcPts val="700"/>
              </a:spcAft>
              <a:defRPr sz="1150">
                <a:solidFill>
                  <a:srgbClr val="1E293B"/>
                </a:solidFill>
              </a:defRPr>
            </a:pPr>
            <a:r>
              <a:t>•   Automated Urgency Triage: Priority calculated dynamically from victim count, water depth, and isolation level.</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8. Step 5: Admin Live CCTV Surveillance Wall</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Live Multi-Channel Command Center</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4-Quadrant Tactical Wall: Admin monitors live video feeds across 4 critical disaster channels simultaneously:</a:t>
            </a:r>
          </a:p>
          <a:p>
            <a:pPr>
              <a:spcAft>
                <a:spcPts val="600"/>
              </a:spcAft>
              <a:defRPr sz="1150">
                <a:solidFill>
                  <a:srgbClr val="1E293B"/>
                </a:solidFill>
              </a:defRPr>
            </a:pPr>
            <a:r>
              <a:t>•      • CAM 01: Citizen Live Field Cam (streamed directly from user webcam)</a:t>
            </a:r>
          </a:p>
          <a:p>
            <a:pPr>
              <a:spcAft>
                <a:spcPts val="600"/>
              </a:spcAft>
              <a:defRPr sz="1150">
                <a:solidFill>
                  <a:srgbClr val="1E293B"/>
                </a:solidFill>
              </a:defRPr>
            </a:pPr>
            <a:r>
              <a:t>•      • CAM 02: Sector D Rooftop Camera</a:t>
            </a:r>
          </a:p>
          <a:p>
            <a:pPr>
              <a:spcAft>
                <a:spcPts val="600"/>
              </a:spcAft>
              <a:defRPr sz="1150">
                <a:solidFill>
                  <a:srgbClr val="1E293B"/>
                </a:solidFill>
              </a:defRPr>
            </a:pPr>
            <a:r>
              <a:t>•      • CAM 03: Weir Sentry Point</a:t>
            </a:r>
          </a:p>
          <a:p>
            <a:pPr>
              <a:spcAft>
                <a:spcPts val="600"/>
              </a:spcAft>
              <a:defRPr sz="1150">
                <a:solidFill>
                  <a:srgbClr val="1E293B"/>
                </a:solidFill>
              </a:defRPr>
            </a:pPr>
            <a:r>
              <a:t>•      • CAM 04: Old Bridge Distress Camera</a:t>
            </a:r>
          </a:p>
          <a:p>
            <a:pPr>
              <a:spcAft>
                <a:spcPts val="600"/>
              </a:spcAft>
              <a:defRPr sz="1150">
                <a:solidFill>
                  <a:srgbClr val="1E293B"/>
                </a:solidFill>
              </a:defRPr>
            </a:pPr>
            <a:r>
              <a:t>•   Real-Time Video Uplink: Citizen webcam frames stream at ~3 FPS to /api/feed/update with minimal bandwidth.</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User webcam streams live to Admin CCTV Wall. AI counts persons on each tile and alerts the commander.</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Automated Surveillance Intelligence</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Live AI Person Count HUD: Every monitor tile displays the exact number of detected survivors in real time.</a:t>
            </a:r>
          </a:p>
          <a:p>
            <a:pPr>
              <a:spcAft>
                <a:spcPts val="700"/>
              </a:spcAft>
              <a:defRPr sz="1150">
                <a:solidFill>
                  <a:srgbClr val="1E293B"/>
                </a:solidFill>
              </a:defRPr>
            </a:pPr>
            <a:r>
              <a:t>•   Sector Threat Status: Tiles dynamically flash CRITICAL (red) or ALERT (orange) based on victim density.</a:t>
            </a:r>
          </a:p>
          <a:p>
            <a:pPr>
              <a:spcAft>
                <a:spcPts val="700"/>
              </a:spcAft>
              <a:defRPr sz="1150">
                <a:solidFill>
                  <a:srgbClr val="1E293B"/>
                </a:solidFill>
              </a:defRPr>
            </a:pPr>
            <a:r>
              <a:t>•   Instant 1-Click Dispatch: Commander can click 'Dispatch Team' directly inside the video monitor tile.</a:t>
            </a:r>
          </a:p>
          <a:p>
            <a:pPr>
              <a:spcAft>
                <a:spcPts val="700"/>
              </a:spcAft>
              <a:defRPr sz="1150">
                <a:solidFill>
                  <a:srgbClr val="1E293B"/>
                </a:solidFill>
              </a:defRPr>
            </a:pPr>
            <a:r>
              <a:t>•   End-to-End Uplink: Connects citizen on-scene video directly to the state disaster control room.</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9. Step 6: Smart Team Sizing &amp; Live Approach Countdown ETA</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Dynamic Team Sizing (Zero Guesswork)</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The system counts victims and matches the optimal specialized rescue force:</a:t>
            </a:r>
          </a:p>
          <a:p>
            <a:pPr>
              <a:spcAft>
                <a:spcPts val="600"/>
              </a:spcAft>
              <a:defRPr sz="1150">
                <a:solidFill>
                  <a:srgbClr val="1E293B"/>
                </a:solidFill>
              </a:defRPr>
            </a:pPr>
            <a:r>
              <a:t>•   1 Person: QRU-1 Quick Response Unit (1 paramedic, 1 scout, rapid bike/raft)</a:t>
            </a:r>
          </a:p>
          <a:p>
            <a:pPr>
              <a:spcAft>
                <a:spcPts val="600"/>
              </a:spcAft>
              <a:defRPr sz="1150">
                <a:solidFill>
                  <a:srgbClr val="1E293B"/>
                </a:solidFill>
              </a:defRPr>
            </a:pPr>
            <a:r>
              <a:t>•   2–3 Persons: NDRF Motorboat Team Bravo (4 personnel + inflatable life-rafts)</a:t>
            </a:r>
          </a:p>
          <a:p>
            <a:pPr>
              <a:spcAft>
                <a:spcPts val="600"/>
              </a:spcAft>
              <a:defRPr sz="1150">
                <a:solidFill>
                  <a:srgbClr val="1E293B"/>
                </a:solidFill>
              </a:defRPr>
            </a:pPr>
            <a:r>
              <a:t>•   4–6 Persons: SDRF Amphibious Delta (6 specialists + shallow-draft hull)</a:t>
            </a:r>
          </a:p>
          <a:p>
            <a:pPr>
              <a:spcAft>
                <a:spcPts val="600"/>
              </a:spcAft>
              <a:defRPr sz="1150">
                <a:solidFill>
                  <a:srgbClr val="1E293B"/>
                </a:solidFill>
              </a:defRPr>
            </a:pPr>
            <a:r>
              <a:t>•   7+ Persons: Heavy Taskforce Echo (Dual motorboats + medical triage corps)</a:t>
            </a:r>
          </a:p>
          <a:p>
            <a:pPr>
              <a:spcAft>
                <a:spcPts val="600"/>
              </a:spcAft>
              <a:defRPr sz="1150">
                <a:solidFill>
                  <a:srgbClr val="1E293B"/>
                </a:solidFill>
              </a:defRPr>
            </a:pPr>
            <a:r>
              <a:t>•   Eliminates Resource Waste: Prevents sending heavy boats for 1 victim or small rafts for large families.</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Auto-sizes team: 1 person -&gt; QRU; 2-3 -&gt; NDRF Motorboat; 4+ -&gt; Taskforce. Live ticking countdown shows arrival ETA.</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Real-Time Approach Countdown Timer</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Live Distance &amp; Speed Calculation: Computes distance from base to disaster coordinates (e.g. 4.2 km at 38 km/h).</a:t>
            </a:r>
          </a:p>
          <a:p>
            <a:pPr>
              <a:spcAft>
                <a:spcPts val="700"/>
              </a:spcAft>
              <a:defRPr sz="1150">
                <a:solidFill>
                  <a:srgbClr val="1E293B"/>
                </a:solidFill>
              </a:defRPr>
            </a:pPr>
            <a:r>
              <a:t>•   Ticking Approach Clock: Live countdown timer (e.g. 12m 45s, 12m 44s...) ticks down to arrival.</a:t>
            </a:r>
          </a:p>
          <a:p>
            <a:pPr>
              <a:spcAft>
                <a:spcPts val="700"/>
              </a:spcAft>
              <a:defRPr sz="1150">
                <a:solidFill>
                  <a:srgbClr val="1E293B"/>
                </a:solidFill>
              </a:defRPr>
            </a:pPr>
            <a:r>
              <a:t>•   Synchronized Awareness: Both the Admin Commander and the Trapped Citizen watch the same clock.</a:t>
            </a:r>
          </a:p>
          <a:p>
            <a:pPr>
              <a:spcAft>
                <a:spcPts val="700"/>
              </a:spcAft>
              <a:defRPr sz="1150">
                <a:solidFill>
                  <a:srgbClr val="1E293B"/>
                </a:solidFill>
              </a:defRPr>
            </a:pPr>
            <a:r>
              <a:t>•   Arrival Notification: Status flips to 'ARRIVED ON SITE / RESCUING' when the countdown hits zero.</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10. Step 7: Emergency Citizen 1-Click SOS Beacon</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1-Click Life-Saving Distress Beacon</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Zero Complexity for Panicking Citizens: Trapped citizens don't need technical skills. They tap one prominent red 'SEND EMERGENCY SOS' button.</a:t>
            </a:r>
          </a:p>
          <a:p>
            <a:pPr>
              <a:spcAft>
                <a:spcPts val="600"/>
              </a:spcAft>
              <a:defRPr sz="1150">
                <a:solidFill>
                  <a:srgbClr val="1E293B"/>
                </a:solidFill>
              </a:defRPr>
            </a:pPr>
            <a:r>
              <a:t>•   Automatic Geolocation: Instantly captures device GPS latitude and longitude, timestamp, and optional triage flags (Elderly, Child, Injured).</a:t>
            </a:r>
          </a:p>
          <a:p>
            <a:pPr>
              <a:spcAft>
                <a:spcPts val="600"/>
              </a:spcAft>
              <a:defRPr sz="1150">
                <a:solidFill>
                  <a:srgbClr val="1E293B"/>
                </a:solidFill>
              </a:defRPr>
            </a:pPr>
            <a:r>
              <a:t>•   Audible Console Ping: Immediately sounds an emergency alarm in the Admin Command Wall.</a:t>
            </a:r>
          </a:p>
          <a:p>
            <a:pPr>
              <a:spcAft>
                <a:spcPts val="600"/>
              </a:spcAft>
              <a:defRPr sz="1150">
                <a:solidFill>
                  <a:srgbClr val="1E293B"/>
                </a:solidFill>
              </a:defRPr>
            </a:pPr>
            <a:r>
              <a:t>•   High Availability: Operates over weak 2G/3G mobile cellular networks.</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1-click SOS sends GPS to admin console. Citizen screen displays dispatched team name and live arrival countdown.</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End-to-End Emergency Feedback Loop</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Step 1: Beacon Transmitted: GPS coordinates sent to /api/sos in 120ms.</a:t>
            </a:r>
          </a:p>
          <a:p>
            <a:pPr>
              <a:spcAft>
                <a:spcPts val="700"/>
              </a:spcAft>
              <a:defRPr sz="1150">
                <a:solidFill>
                  <a:srgbClr val="1E293B"/>
                </a:solidFill>
              </a:defRPr>
            </a:pPr>
            <a:r>
              <a:t>•   Step 2: Admin Queue &amp; Dispatch: Incident logged in live registry; system auto-recommends nearest amphibious boat.</a:t>
            </a:r>
          </a:p>
          <a:p>
            <a:pPr>
              <a:spcAft>
                <a:spcPts val="700"/>
              </a:spcAft>
              <a:defRPr sz="1150">
                <a:solidFill>
                  <a:srgbClr val="1E293B"/>
                </a:solidFill>
              </a:defRPr>
            </a:pPr>
            <a:r>
              <a:t>•   Step 3: Citizen Reassurance HUD: User screen updates with team name and approach countdown (e.g. 'NDRF Bravo Dispatched — ETA 8 mins').</a:t>
            </a:r>
          </a:p>
          <a:p>
            <a:pPr>
              <a:spcAft>
                <a:spcPts val="700"/>
              </a:spcAft>
              <a:defRPr sz="1150">
                <a:solidFill>
                  <a:srgbClr val="1E293B"/>
                </a:solidFill>
              </a:defRPr>
            </a:pPr>
            <a:r>
              <a:t>•   Psychological Relief: Trapped victims know help is on the way, reducing panic and irrational actions.</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640080"/>
          </a:xfrm>
          <a:prstGeom prst="rect">
            <a:avLst/>
          </a:prstGeom>
          <a:noFill/>
        </p:spPr>
        <p:txBody>
          <a:bodyPr wrap="none">
            <a:spAutoFit/>
          </a:bodyPr>
          <a:lstStyle/>
          <a:p>
            <a:pPr>
              <a:defRPr sz="2300" b="1">
                <a:solidFill>
                  <a:srgbClr val="10365C"/>
                </a:solidFill>
              </a:defRPr>
            </a:pPr>
            <a:r>
              <a:t>11. Results, Tech Stack &amp; Live Working Demo</a:t>
            </a:r>
          </a:p>
        </p:txBody>
      </p:sp>
      <p:sp>
        <p:nvSpPr>
          <p:cNvPr id="3" name="Rounded Rectangle 2"/>
          <p:cNvSpPr/>
          <p:nvPr/>
        </p:nvSpPr>
        <p:spPr>
          <a:xfrm>
            <a:off x="548640" y="1051560"/>
            <a:ext cx="548640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Proven Metrics (N = 2,400 Historical Samples)</a:t>
            </a:r>
          </a:p>
        </p:txBody>
      </p:sp>
      <p:sp>
        <p:nvSpPr>
          <p:cNvPr id="4" name="Rectangle 3"/>
          <p:cNvSpPr/>
          <p:nvPr/>
        </p:nvSpPr>
        <p:spPr>
          <a:xfrm>
            <a:off x="548640" y="1490472"/>
            <a:ext cx="5486400" cy="3291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303520" cy="3108960"/>
          </a:xfrm>
          <a:prstGeom prst="rect">
            <a:avLst/>
          </a:prstGeom>
          <a:noFill/>
        </p:spPr>
        <p:txBody>
          <a:bodyPr wrap="square">
            <a:spAutoFit/>
          </a:bodyPr>
          <a:lstStyle/>
          <a:p>
            <a:pPr>
              <a:spcAft>
                <a:spcPts val="600"/>
              </a:spcAft>
              <a:defRPr sz="1150">
                <a:solidFill>
                  <a:srgbClr val="1E293B"/>
                </a:solidFill>
              </a:defRPr>
            </a:pPr>
            <a:r>
              <a:t>•   Overall Accuracy: 91.4% tested across 18 major Indian river stations (2005–2025).</a:t>
            </a:r>
          </a:p>
          <a:p>
            <a:pPr>
              <a:spcAft>
                <a:spcPts val="600"/>
              </a:spcAft>
              <a:defRPr sz="1150">
                <a:solidFill>
                  <a:srgbClr val="1E293B"/>
                </a:solidFill>
              </a:defRPr>
            </a:pPr>
            <a:r>
              <a:t>•   Recall / Sensitivity: 93.2% (Critically minimizes missed floods, ensuring human life safety).</a:t>
            </a:r>
          </a:p>
          <a:p>
            <a:pPr>
              <a:spcAft>
                <a:spcPts val="600"/>
              </a:spcAft>
              <a:defRPr sz="1150">
                <a:solidFill>
                  <a:srgbClr val="1E293B"/>
                </a:solidFill>
              </a:defRPr>
            </a:pPr>
            <a:r>
              <a:t>•   Precision: 88.6% (Minimizes false alarms and unnecessary evacuations).</a:t>
            </a:r>
          </a:p>
          <a:p>
            <a:pPr>
              <a:spcAft>
                <a:spcPts val="600"/>
              </a:spcAft>
              <a:defRPr sz="1150">
                <a:solidFill>
                  <a:srgbClr val="1E293B"/>
                </a:solidFill>
              </a:defRPr>
            </a:pPr>
            <a:r>
              <a:t>•   ROC-AUC Score: 0.952 (Demonstrates outstanding classification discrimination).</a:t>
            </a:r>
          </a:p>
          <a:p>
            <a:pPr>
              <a:spcAft>
                <a:spcPts val="600"/>
              </a:spcAft>
              <a:defRPr sz="1150">
                <a:solidFill>
                  <a:srgbClr val="1E293B"/>
                </a:solidFill>
              </a:defRPr>
            </a:pPr>
            <a:r>
              <a:t>•   Pure Software Stack: Node.js, HTML5, Vanilla CSS3, ES6 JavaScript, TensorFlow.js, Leaflet GIS — 100% web-based with zero hardware cost.</a:t>
            </a:r>
          </a:p>
        </p:txBody>
      </p:sp>
      <p:sp>
        <p:nvSpPr>
          <p:cNvPr id="6" name="Rounded Rectangle 5"/>
          <p:cNvSpPr/>
          <p:nvPr/>
        </p:nvSpPr>
        <p:spPr>
          <a:xfrm>
            <a:off x="548640" y="4892040"/>
            <a:ext cx="5486400" cy="1325880"/>
          </a:xfrm>
          <a:prstGeom prst="roundRect">
            <a:avLst/>
          </a:prstGeom>
          <a:solidFill>
            <a:srgbClr val="0B1E34"/>
          </a:solidFill>
          <a:ln w="1905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5303520" cy="1234440"/>
          </a:xfrm>
          <a:prstGeom prst="rect">
            <a:avLst/>
          </a:prstGeom>
          <a:noFill/>
        </p:spPr>
        <p:txBody>
          <a:bodyPr wrap="square">
            <a:spAutoFit/>
          </a:bodyPr>
          <a:lstStyle/>
          <a:p>
            <a:pPr>
              <a:spcAft>
                <a:spcPts val="200"/>
              </a:spcAft>
              <a:defRPr sz="1150" b="1">
                <a:solidFill>
                  <a:srgbClr val="FFD700"/>
                </a:solidFill>
              </a:defRPr>
            </a:pPr>
            <a:r>
              <a:t>💡 Presenter Key Cue</a:t>
            </a:r>
          </a:p>
          <a:p>
            <a:pPr>
              <a:lnSpc>
                <a:spcPct val="115000"/>
              </a:lnSpc>
              <a:defRPr sz="1050">
                <a:solidFill>
                  <a:srgbClr val="FFFFFF"/>
                </a:solidFill>
              </a:defRPr>
            </a:pPr>
            <a:r>
              <a:t>91.4% accuracy, 93.2% recall on 2,400 events. 100% web-based. System is live and ready for demo right now!</a:t>
            </a:r>
          </a:p>
        </p:txBody>
      </p:sp>
      <p:sp>
        <p:nvSpPr>
          <p:cNvPr id="8" name="Rounded Rectangle 7"/>
          <p:cNvSpPr/>
          <p:nvPr/>
        </p:nvSpPr>
        <p:spPr>
          <a:xfrm>
            <a:off x="6217920" y="1051560"/>
            <a:ext cx="5394960" cy="438912"/>
          </a:xfrm>
          <a:prstGeom prst="round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Live Working System Ready to Demo</a:t>
            </a:r>
          </a:p>
        </p:txBody>
      </p:sp>
      <p:sp>
        <p:nvSpPr>
          <p:cNvPr id="9" name="Rectangle 8"/>
          <p:cNvSpPr/>
          <p:nvPr/>
        </p:nvSpPr>
        <p:spPr>
          <a:xfrm>
            <a:off x="6217920" y="1490472"/>
            <a:ext cx="5394960" cy="472744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554480"/>
            <a:ext cx="5212080" cy="4480560"/>
          </a:xfrm>
          <a:prstGeom prst="rect">
            <a:avLst/>
          </a:prstGeom>
          <a:noFill/>
        </p:spPr>
        <p:txBody>
          <a:bodyPr wrap="square">
            <a:spAutoFit/>
          </a:bodyPr>
          <a:lstStyle/>
          <a:p>
            <a:pPr>
              <a:spcAft>
                <a:spcPts val="700"/>
              </a:spcAft>
              <a:defRPr sz="1150">
                <a:solidFill>
                  <a:srgbClr val="1E293B"/>
                </a:solidFill>
              </a:defRPr>
            </a:pPr>
            <a:r>
              <a:t>•   🟢 System Status: ONLINE &amp; ACTIVE on http://localhost:3000</a:t>
            </a:r>
          </a:p>
          <a:p>
            <a:pPr>
              <a:spcAft>
                <a:spcPts val="700"/>
              </a:spcAft>
              <a:defRPr sz="1150">
                <a:solidFill>
                  <a:srgbClr val="1E293B"/>
                </a:solidFill>
              </a:defRPr>
            </a:pPr>
            <a:r>
              <a:t>•   🌧️ AI Flood Prediction Module: http://localhost:3000/flood-prediction</a:t>
            </a:r>
          </a:p>
          <a:p>
            <a:pPr>
              <a:spcAft>
                <a:spcPts val="700"/>
              </a:spcAft>
              <a:defRPr sz="1150">
                <a:solidFill>
                  <a:srgbClr val="1E293B"/>
                </a:solidFill>
              </a:defRPr>
            </a:pPr>
            <a:r>
              <a:t>•   📹 CCTV Command Wall &amp; Sizing: http://localhost:3000/admin</a:t>
            </a:r>
          </a:p>
          <a:p>
            <a:pPr>
              <a:spcAft>
                <a:spcPts val="700"/>
              </a:spcAft>
              <a:defRPr sz="1150">
                <a:solidFill>
                  <a:srgbClr val="1E293B"/>
                </a:solidFill>
              </a:defRPr>
            </a:pPr>
            <a:r>
              <a:t>•   🆘 Citizen SOS &amp; Drone AI Vision: http://localhost:3000/</a:t>
            </a:r>
          </a:p>
          <a:p>
            <a:pPr>
              <a:spcAft>
                <a:spcPts val="700"/>
              </a:spcAft>
              <a:defRPr sz="1150">
                <a:solidFill>
                  <a:srgbClr val="1E293B"/>
                </a:solidFill>
              </a:defRPr>
            </a:pPr>
            <a:r>
              <a:t>•   🗣️ Presentation with Speaker Script: http://localhost:3000/presentation</a:t>
            </a:r>
          </a:p>
          <a:p>
            <a:pPr>
              <a:spcAft>
                <a:spcPts val="700"/>
              </a:spcAft>
              <a:defRPr sz="1150">
                <a:solidFill>
                  <a:srgbClr val="1E293B"/>
                </a:solidFill>
              </a:defRPr>
            </a:pPr>
            <a:r>
              <a:t>•   Ready for Live Demonstration and Q&amp;A!</a:t>
            </a:r>
          </a:p>
        </p:txBody>
      </p:sp>
      <p:sp>
        <p:nvSpPr>
          <p:cNvPr id="11" name="Rectangle 10"/>
          <p:cNvSpPr/>
          <p:nvPr/>
        </p:nvSpPr>
        <p:spPr>
          <a:xfrm>
            <a:off x="0" y="6400800"/>
            <a:ext cx="12191695" cy="36576"/>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37376"/>
            <a:ext cx="12191695" cy="420624"/>
          </a:xfrm>
          <a:prstGeom prst="rect">
            <a:avLst/>
          </a:prstGeom>
          <a:solidFill>
            <a:srgbClr val="10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anjivani_logo.png"/>
          <p:cNvPicPr>
            <a:picLocks noChangeAspect="1"/>
          </p:cNvPicPr>
          <p:nvPr/>
        </p:nvPicPr>
        <p:blipFill>
          <a:blip r:embed="rId3"/>
          <a:stretch>
            <a:fillRect/>
          </a:stretch>
        </p:blipFill>
        <p:spPr>
          <a:xfrm>
            <a:off x="182880" y="6455664"/>
            <a:ext cx="347472" cy="384048"/>
          </a:xfrm>
          <a:prstGeom prst="rect">
            <a:avLst/>
          </a:prstGeom>
        </p:spPr>
      </p:pic>
      <p:sp>
        <p:nvSpPr>
          <p:cNvPr id="14" name="TextBox 13"/>
          <p:cNvSpPr txBox="1"/>
          <p:nvPr/>
        </p:nvSpPr>
        <p:spPr>
          <a:xfrm>
            <a:off x="640080" y="6455664"/>
            <a:ext cx="10241280" cy="365760"/>
          </a:xfrm>
          <a:prstGeom prst="rect">
            <a:avLst/>
          </a:prstGeom>
          <a:noFill/>
        </p:spPr>
        <p:txBody>
          <a:bodyPr wrap="square">
            <a:spAutoFit/>
          </a:bodyPr>
          <a:lstStyle/>
          <a:p>
            <a:pPr algn="l">
              <a:defRPr sz="1000" i="1">
                <a:solidFill>
                  <a:srgbClr val="FFFFFF"/>
                </a:solidFill>
              </a:defRPr>
            </a:pPr>
            <a:r>
              <a:t>Sanjivani COE  |  Dept. of Computer Engineering  |  Rescue Eye: AI Flood &amp; Drone Response  |  T.Y. B.Tech</a:t>
            </a:r>
          </a:p>
        </p:txBody>
      </p:sp>
      <p:sp>
        <p:nvSpPr>
          <p:cNvPr id="15" name="TextBox 14"/>
          <p:cNvSpPr txBox="1"/>
          <p:nvPr/>
        </p:nvSpPr>
        <p:spPr>
          <a:xfrm>
            <a:off x="10972800" y="6455664"/>
            <a:ext cx="1005840" cy="365760"/>
          </a:xfrm>
          <a:prstGeom prst="rect">
            <a:avLst/>
          </a:prstGeom>
          <a:noFill/>
        </p:spPr>
        <p:txBody>
          <a:bodyPr wrap="none">
            <a:spAutoFit/>
          </a:bodyPr>
          <a:lstStyle/>
          <a:p>
            <a:pPr algn="r">
              <a:defRPr sz="1100" b="1">
                <a:solidFill>
                  <a:srgbClr val="FFFFFF"/>
                </a:solidFill>
              </a:defRPr>
            </a:pPr>
            <a: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